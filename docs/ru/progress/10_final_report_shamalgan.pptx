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ppt/comments/comment7.xml" ContentType="application/vnd.openxmlformats-officedocument.presentationml.comment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y="6858000" cx="12191675"/>
  <p:notesSz cx="6858000" cy="9144000"/>
  <p:embeddedFontLst>
    <p:embeddedFont>
      <p:font typeface="Quattrocento Sans"/>
      <p:regular r:id="rId29"/>
      <p:bold r:id="rId30"/>
      <p:italic r:id="rId31"/>
      <p:boldItalic r:id="rId32"/>
    </p:embeddedFont>
    <p:embeddedFont>
      <p:font typeface="Comfortaa"/>
      <p:regular r:id="rId33"/>
      <p:bold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7" name="Ivan Vasiliev"/>
  <p:cmAuthor clrIdx="1" id="1" initials="" lastIdx="2" name="Михаил Егоршев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9064FEC-ED9D-459E-BEED-1E4A128183A3}">
  <a:tblStyle styleId="{F9064FEC-ED9D-459E-BEED-1E4A128183A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commentAuthors" Target="commentAuthors.xml"/><Relationship Id="rId6" Type="http://schemas.openxmlformats.org/officeDocument/2006/relationships/slideMaster" Target="slideMasters/slideMaster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font" Target="fonts/QuattrocentoSans-regular.fntdata"/><Relationship Id="rId30" Type="http://schemas.openxmlformats.org/officeDocument/2006/relationships/font" Target="fonts/QuattrocentoSans-bold.fntdata"/><Relationship Id="rId31" Type="http://schemas.openxmlformats.org/officeDocument/2006/relationships/font" Target="fonts/QuattrocentoSans-italic.fntdata"/><Relationship Id="rId32" Type="http://schemas.openxmlformats.org/officeDocument/2006/relationships/font" Target="fonts/QuattrocentoSans-boldItalic.fntdata"/><Relationship Id="rId33" Type="http://schemas.openxmlformats.org/officeDocument/2006/relationships/font" Target="fonts/Comfortaa-regular.fntdata"/><Relationship Id="rId34" Type="http://schemas.openxmlformats.org/officeDocument/2006/relationships/font" Target="fonts/Comfortaa-bold.fntdata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4-02T06:06:41.539">
    <p:pos x="576" y="1036"/>
    <p:text>++</p:tex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6-04-02T06:10:22.550">
    <p:pos x="320" y="3055"/>
    <p:text>Можно добавить разделов со сравнением и топить visum дальше</p:text>
  </p:cm>
  <p:cm authorId="1" idx="1" dt="2026-04-02T06:10:22.550">
    <p:pos x="320" y="3055"/>
    <p:text>Я вот как раз хотел добавить слайд-два для сравнения</p:tex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3" dt="2026-04-02T06:10:50.862">
    <p:pos x="345" y="835"/>
    <p:text>не оч понял как полезность расчитывается</p:text>
  </p:cm>
  <p:cm authorId="1" idx="2" dt="2026-04-02T06:10:50.862">
    <p:pos x="345" y="835"/>
    <p:text>++ поработаю над этим</p:text>
  </p:cm>
</p:cmLst>
</file>

<file path=ppt/comments/comment4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4" dt="2026-04-02T06:15:47.660">
    <p:pos x="345" y="2131"/>
    <p:text>Фюф</p:text>
  </p:cm>
</p:cmLst>
</file>

<file path=ppt/comments/comment5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5" dt="2026-04-02T06:20:38.862">
    <p:pos x="345" y="835"/>
    <p:text>О! А как там балансируется распеределение?</p:text>
  </p:cm>
</p:cmLst>
</file>

<file path=ppt/comments/comment6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6" dt="2026-04-02T06:24:58.612">
    <p:pos x="345" y="864"/>
    <p:text>++</p:text>
  </p:cm>
</p:cmLst>
</file>

<file path=ppt/comments/comment7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7" dt="2026-04-02T06:34:15.034">
    <p:pos x="576" y="345"/>
    <p:text>красаучег
1 total reaction
Михаил Егоршев reacted with ❤️ at 2026-04-02 06:34 AM</p:text>
  </p:cm>
</p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d4145f9d5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g3d4145f9d59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comments" Target="../comments/commen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jpg"/><Relationship Id="rId4" Type="http://schemas.openxmlformats.org/officeDocument/2006/relationships/hyperlink" Target="http://www.youtube.com/watch?v=cijxkx7AA3U" TargetMode="External"/><Relationship Id="rId5" Type="http://schemas.openxmlformats.org/officeDocument/2006/relationships/image" Target="../media/image4.jpg"/><Relationship Id="rId6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comments" Target="../comments/comment2.xml"/><Relationship Id="rId4" Type="http://schemas.openxmlformats.org/officeDocument/2006/relationships/image" Target="../media/image5.png"/><Relationship Id="rId5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Relationship Id="rId4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comments" Target="../comments/comment3.xml"/><Relationship Id="rId4" Type="http://schemas.openxmlformats.org/officeDocument/2006/relationships/image" Target="../media/image1.png"/><Relationship Id="rId5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www.youtube.com/watch?v=RieEzwqNwV8" TargetMode="External"/><Relationship Id="rId4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jpg"/><Relationship Id="rId4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comments" Target="../comments/comment4.xml"/><Relationship Id="rId4" Type="http://schemas.openxmlformats.org/officeDocument/2006/relationships/image" Target="../media/image1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comments" Target="../comments/comment5.xml"/><Relationship Id="rId4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18.png"/><Relationship Id="rId5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comments" Target="../comments/commen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comments" Target="../comments/comment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3A5C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Транспортная модель</a:t>
            </a:r>
            <a:br>
              <a:rPr b="1" i="0" lang="en-US" sz="4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i="0" lang="en-US" sz="4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сценария «Шамалган»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914400" y="338328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BBCCD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MATSim · proof-of-concept · Алматинская область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914400" y="420624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8AA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февраль – март 2026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4114800" y="3931920"/>
            <a:ext cx="3931920" cy="36576"/>
          </a:xfrm>
          <a:prstGeom prst="rect">
            <a:avLst/>
          </a:prstGeom>
          <a:solidFill>
            <a:srgbClr val="E88D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548640" y="164592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Содержание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548640" y="1325880"/>
            <a:ext cx="530352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Часть I  -- Введение в MATSim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555555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1. Что такое MATSim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2. Агент и план на день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3. Сеть и транспортные отрезки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4. Общественный транспорт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5. Оценка плана, итерации, сходимость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6. Применения MATSim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6217920" y="1325880"/>
            <a:ext cx="54864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Часть II -- Сценарий «Шамалган»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555555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7.  Постановка задачи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8.  Исходные данные (GeoPackage)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9.  Дорожная сеть -- построение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10. Дорожная сеть -- контроль качества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11. Распределение населения -- зоны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12. Население -- алгоритм и параметры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13. Общественный транспорт -- маршруты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14. ОТ -- расписание и подвижной состав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15. Запуск и результаты симуляции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16. Валидация: УДС и ОТ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17. Ограничения и следующие шаги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18. Выводы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5"/>
          <p:cNvSpPr txBox="1"/>
          <p:nvPr/>
        </p:nvSpPr>
        <p:spPr>
          <a:xfrm>
            <a:off x="548640" y="164592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Что такое MATSim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548640" y="658368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BCCD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Multi-Agent Transport Simulation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548640" y="1325880"/>
            <a:ext cx="5486400" cy="24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</a:t>
            </a:r>
            <a:r>
              <a:rPr lang="en-US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П</a:t>
            </a: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латформа с открытым кодом для </a:t>
            </a:r>
            <a:r>
              <a:rPr lang="en-US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симуляции</a:t>
            </a: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транспортного спроса и потоков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Используется по всему миру: </a:t>
            </a: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Берлин, Париж, Вена и др.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555555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Открытый исходный код </a:t>
            </a:r>
            <a:r>
              <a:rPr lang="en-US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- д</a:t>
            </a: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окументация и код в с</a:t>
            </a:r>
            <a:r>
              <a:rPr lang="en-US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вободном доступе, </a:t>
            </a:r>
            <a:r>
              <a:rPr lang="en-US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можно адаптировать и верифицировать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Агентный подход </a:t>
            </a:r>
            <a:r>
              <a:rPr lang="en-US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-</a:t>
            </a: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каждый «житель»</a:t>
            </a:r>
            <a:r>
              <a:rPr lang="en-US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- </a:t>
            </a: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отдельный агент с расписанием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</a:t>
            </a:r>
            <a:r>
              <a:rPr lang="en-US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Лицензия - </a:t>
            </a:r>
            <a:r>
              <a:rPr lang="en-US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Бесплатная</a:t>
            </a:r>
            <a:r>
              <a:rPr lang="en-US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200">
                <a:solidFill>
                  <a:schemeClr val="dk1"/>
                </a:solidFill>
              </a:rPr>
              <a:t>GNU General Public License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descr="berlin_1.jpg" id="105" name="Google Shape;10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813" y="4023288"/>
            <a:ext cx="4544075" cy="2556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pic>
        <p:nvPicPr>
          <p:cNvPr id="107" name="Google Shape;107;p15" title="MATSim Simulation - Birmingham, Alabama, USA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38300" y="3996200"/>
            <a:ext cx="4640350" cy="261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38300" y="1218775"/>
            <a:ext cx="4640350" cy="2610209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5972875" y="3463800"/>
            <a:ext cx="136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Торонто, Канада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5"/>
          <p:cNvSpPr txBox="1"/>
          <p:nvPr/>
        </p:nvSpPr>
        <p:spPr>
          <a:xfrm>
            <a:off x="5972875" y="6136025"/>
            <a:ext cx="1365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Бирмингем, США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246700" y="633612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Берлин</a:t>
            </a:r>
            <a:endParaRPr sz="9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6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6"/>
          <p:cNvSpPr txBox="1"/>
          <p:nvPr/>
        </p:nvSpPr>
        <p:spPr>
          <a:xfrm>
            <a:off x="548640" y="164592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Агент и план на день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548640" y="1325880"/>
            <a:ext cx="5029200" cy="34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Каждый агент — упрощённое представление человека.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У агента есть план на день (цепочка активностей и поездок):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555555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1. Активность «дом» (до 07:30)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2. Поездка до работы (</a:t>
            </a:r>
            <a:r>
              <a:rPr lang="en-US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ИТ </a:t>
            </a: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/ </a:t>
            </a:r>
            <a:r>
              <a:rPr lang="en-US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ОТ </a:t>
            </a: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/ </a:t>
            </a:r>
            <a:r>
              <a:rPr lang="en-US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пешком</a:t>
            </a: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/ другой режим)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3. Активность «работа» (до 17:00)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4. Поездка домой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5. Активность «дом» до конца дня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555555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Агент привязан к местам и режимам.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У агента есть до 5 планов поездки на день, случайные 20% меняют план каждую итерацию</a:t>
            </a:r>
            <a:endParaRPr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descr="matsim_agent_plan_diagram.png" id="119" name="Google Shape;11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69280" y="1280160"/>
            <a:ext cx="6217920" cy="384779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/>
          </a:p>
        </p:txBody>
      </p:sp>
      <p:sp>
        <p:nvSpPr>
          <p:cNvPr id="121" name="Google Shape;121;p16"/>
          <p:cNvSpPr/>
          <p:nvPr/>
        </p:nvSpPr>
        <p:spPr>
          <a:xfrm>
            <a:off x="509225" y="4863625"/>
            <a:ext cx="5289000" cy="17907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6"/>
          <p:cNvSpPr txBox="1"/>
          <p:nvPr/>
        </p:nvSpPr>
        <p:spPr>
          <a:xfrm>
            <a:off x="509231" y="4851290"/>
            <a:ext cx="53484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chemeClr val="accent6"/>
                </a:solidFill>
                <a:latin typeface="Comfortaa"/>
                <a:ea typeface="Comfortaa"/>
                <a:cs typeface="Comfortaa"/>
                <a:sym typeface="Comfortaa"/>
              </a:rPr>
              <a:t>В MATSim используется агентный подход симуляции населения. Каждый агент имеет уникальный план.</a:t>
            </a:r>
            <a:endParaRPr i="1" sz="1200">
              <a:solidFill>
                <a:schemeClr val="accent6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chemeClr val="accent2"/>
                </a:solidFill>
                <a:latin typeface="Comfortaa"/>
                <a:ea typeface="Comfortaa"/>
                <a:cs typeface="Comfortaa"/>
                <a:sym typeface="Comfortaa"/>
              </a:rPr>
              <a:t>“Цифровой двойник” населения, гибкость перераспределения режимов и потоков</a:t>
            </a:r>
            <a:endParaRPr i="1" sz="1200">
              <a:solidFill>
                <a:schemeClr val="accent2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200">
              <a:solidFill>
                <a:schemeClr val="accent6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chemeClr val="accent6"/>
                </a:solidFill>
                <a:latin typeface="Comfortaa"/>
                <a:ea typeface="Comfortaa"/>
                <a:cs typeface="Comfortaa"/>
                <a:sym typeface="Comfortaa"/>
              </a:rPr>
              <a:t>ptv Visum использует районную модель (TAZ), где “житель” - поездка - моделируется матрицей корреспонденций. </a:t>
            </a:r>
            <a:endParaRPr i="1" sz="1200">
              <a:solidFill>
                <a:schemeClr val="accent6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chemeClr val="accent2"/>
                </a:solidFill>
                <a:latin typeface="Comfortaa"/>
                <a:ea typeface="Comfortaa"/>
                <a:cs typeface="Comfortaa"/>
                <a:sym typeface="Comfortaa"/>
              </a:rPr>
              <a:t>Уклон в стратегическое планирование и детальные карты спроса</a:t>
            </a:r>
            <a:endParaRPr i="1" sz="1200">
              <a:solidFill>
                <a:schemeClr val="accent2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123" name="Google Shape;123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73775" y="1223675"/>
            <a:ext cx="6115301" cy="5430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7"/>
          <p:cNvSpPr/>
          <p:nvPr/>
        </p:nvSpPr>
        <p:spPr>
          <a:xfrm>
            <a:off x="0" y="0"/>
            <a:ext cx="12191700" cy="1051500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7"/>
          <p:cNvSpPr txBox="1"/>
          <p:nvPr/>
        </p:nvSpPr>
        <p:spPr>
          <a:xfrm>
            <a:off x="548640" y="164592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Сеть и транспортные отрезки</a:t>
            </a:r>
            <a:endParaRPr/>
          </a:p>
        </p:txBody>
      </p:sp>
      <p:sp>
        <p:nvSpPr>
          <p:cNvPr id="130" name="Google Shape;130;p17"/>
          <p:cNvSpPr txBox="1"/>
          <p:nvPr/>
        </p:nvSpPr>
        <p:spPr>
          <a:xfrm>
            <a:off x="104600" y="1132125"/>
            <a:ext cx="52497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Сеть </a:t>
            </a:r>
            <a:r>
              <a:rPr lang="en-US" sz="1200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-</a:t>
            </a:r>
            <a:r>
              <a:rPr b="0" i="0" lang="en-US" sz="12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граф, состоящий из: </a:t>
            </a:r>
            <a:br>
              <a:rPr b="0" i="0" lang="en-US" sz="12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2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  </a:t>
            </a:r>
            <a:r>
              <a:rPr lang="en-US" sz="1200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У</a:t>
            </a:r>
            <a:r>
              <a:rPr b="0" i="0" lang="en-US" sz="12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злы </a:t>
            </a:r>
            <a:r>
              <a:rPr lang="en-US" sz="1200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- </a:t>
            </a:r>
            <a:r>
              <a:rPr b="0" i="0" lang="en-US" sz="12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перекрёстки</a:t>
            </a:r>
            <a:br>
              <a:rPr lang="en-US" sz="1200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lang="en-US" sz="1200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 Отрезки - дороги</a:t>
            </a:r>
            <a:endParaRPr sz="1200">
              <a:solidFill>
                <a:srgbClr val="555555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 Точки - коммерческие объекты, пункты остановок итд..</a:t>
            </a:r>
            <a:endParaRPr sz="1200">
              <a:solidFill>
                <a:srgbClr val="555555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Атрибуты узлов:</a:t>
            </a:r>
            <a:endParaRPr sz="1200">
              <a:solidFill>
                <a:srgbClr val="555555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Регулируюмый/Нерегулируемый перекресток</a:t>
            </a:r>
            <a:endParaRPr sz="1200">
              <a:solidFill>
                <a:srgbClr val="555555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Тип регулирования</a:t>
            </a:r>
            <a:endParaRPr sz="1200">
              <a:solidFill>
                <a:srgbClr val="555555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00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Повороты</a:t>
            </a:r>
            <a:endParaRPr>
              <a:solidFill>
                <a:srgbClr val="555555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descr="network_speed_overview.png" id="131" name="Google Shape;13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2925" y="2880360"/>
            <a:ext cx="5303522" cy="3977642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/>
          </a:p>
        </p:txBody>
      </p:sp>
      <p:sp>
        <p:nvSpPr>
          <p:cNvPr id="133" name="Google Shape;133;p17"/>
          <p:cNvSpPr/>
          <p:nvPr/>
        </p:nvSpPr>
        <p:spPr>
          <a:xfrm>
            <a:off x="5664650" y="230450"/>
            <a:ext cx="5673900" cy="554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7"/>
          <p:cNvSpPr txBox="1"/>
          <p:nvPr/>
        </p:nvSpPr>
        <p:spPr>
          <a:xfrm>
            <a:off x="5784200" y="230450"/>
            <a:ext cx="5434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В модели Шамалгана используется ограниченное количество возможностей MATSim. </a:t>
            </a:r>
            <a:endParaRPr i="1" sz="12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5" name="Google Shape;13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71675" y="3000525"/>
            <a:ext cx="4388751" cy="373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7"/>
          <p:cNvSpPr txBox="1"/>
          <p:nvPr/>
        </p:nvSpPr>
        <p:spPr>
          <a:xfrm>
            <a:off x="6230175" y="1051550"/>
            <a:ext cx="60426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00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Атрибуты отрезков: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00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Длина и допустимая скорость → время проезда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00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Пропускная способность → задержки при перегрузке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00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Полосность → интерпретация вместимости</a:t>
            </a:r>
            <a:endParaRPr sz="1200">
              <a:solidFill>
                <a:srgbClr val="555555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00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Атрибуты точек:</a:t>
            </a:r>
            <a:endParaRPr sz="1200">
              <a:solidFill>
                <a:srgbClr val="555555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00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Является ли пунктом остановки и принадлежит какому маршруту</a:t>
            </a:r>
            <a:endParaRPr sz="1200">
              <a:solidFill>
                <a:srgbClr val="555555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00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POI - коммерческие объекты, заправки, рекреационные зоны</a:t>
            </a:r>
            <a:endParaRPr sz="1200">
              <a:solidFill>
                <a:srgbClr val="555555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8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>
            <a:off x="548640" y="164592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Общественный транспорт в MATSim</a:t>
            </a:r>
            <a:endParaRPr/>
          </a:p>
        </p:txBody>
      </p:sp>
      <p:sp>
        <p:nvSpPr>
          <p:cNvPr id="143" name="Google Shape;143;p18"/>
          <p:cNvSpPr txBox="1"/>
          <p:nvPr/>
        </p:nvSpPr>
        <p:spPr>
          <a:xfrm>
            <a:off x="548640" y="1325880"/>
            <a:ext cx="530352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ОТ задаётся тремя компонентами: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555555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Остановки — привязаны к линкам сети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Маршруты — последовательность остановок и линков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Расписание — время отправления и интервалы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555555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Агенты с режимом «ОТ» получают маршрут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с учётом расписания, пересадок, ожидания.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555555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Можно оценивать влияние изменения интервалов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или новых линий на пассажиропотоки и время поездок.</a:t>
            </a:r>
            <a:endParaRPr/>
          </a:p>
        </p:txBody>
      </p:sp>
      <p:pic>
        <p:nvPicPr>
          <p:cNvPr descr="pt_schematic.png" id="144" name="Google Shape;14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24442" y="1153145"/>
            <a:ext cx="7867262" cy="5486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9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9"/>
          <p:cNvSpPr txBox="1"/>
          <p:nvPr/>
        </p:nvSpPr>
        <p:spPr>
          <a:xfrm>
            <a:off x="548640" y="164592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Оценка плана, итерации и сходимость</a:t>
            </a:r>
            <a:endParaRPr/>
          </a:p>
        </p:txBody>
      </p:sp>
      <p:sp>
        <p:nvSpPr>
          <p:cNvPr id="152" name="Google Shape;152;p19"/>
          <p:cNvSpPr txBox="1"/>
          <p:nvPr/>
        </p:nvSpPr>
        <p:spPr>
          <a:xfrm>
            <a:off x="548640" y="1325880"/>
            <a:ext cx="530352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Полезность (utility) — числовая оценка «качества» дня агента: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+ время в нужных активностях (работа, дом, покупки)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− время в пути, ожидание, пересадки, расходы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555555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Итерация = один «виртуальный день»: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1. Выполнение планов (симуляция)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2. Оценка результатов (scoring)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3. Перепланирование — часть агентов меняет решения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555555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Повторяется десятки — сотни раз → доли режимов, загрузка,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средняя полезность выходят на устойчивое состояние.</a:t>
            </a:r>
            <a:endParaRPr/>
          </a:p>
        </p:txBody>
      </p:sp>
      <p:sp>
        <p:nvSpPr>
          <p:cNvPr id="154" name="Google Shape;154;p19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</a:t>
            </a:r>
            <a:endParaRPr/>
          </a:p>
        </p:txBody>
      </p:sp>
      <p:pic>
        <p:nvPicPr>
          <p:cNvPr id="155" name="Picture 15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4000" y="1135375"/>
            <a:ext cx="6152673" cy="34608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0"/>
          <p:cNvSpPr txBox="1"/>
          <p:nvPr/>
        </p:nvSpPr>
        <p:spPr>
          <a:xfrm>
            <a:off x="548640" y="164592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Зачем нужен MATSim: примеры задач</a:t>
            </a:r>
            <a:endParaRPr/>
          </a:p>
        </p:txBody>
      </p:sp>
      <p:graphicFrame>
        <p:nvGraphicFramePr>
          <p:cNvPr id="161" name="Google Shape;161;p20"/>
          <p:cNvGraphicFramePr/>
          <p:nvPr/>
        </p:nvGraphicFramePr>
        <p:xfrm>
          <a:off x="548640" y="1371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{F9064FEC-ED9D-459E-BEED-1E4A128183A3}</a:tableStyleId>
              </a:tblPr>
              <a:tblGrid>
                <a:gridCol w="5532125"/>
                <a:gridCol w="5532125"/>
              </a:tblGrid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Задача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Как помогает MATSim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B3A5C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Новая линия ОТ / изменение расписания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Перераспределение пассажиров, время в пути, загрузка пересадочных узлов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Ремонт или сужение дороги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Задержки, смена маршрутов и режимов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Сравнение сценариев до/после застройки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Анализ интенсивности, </a:t>
                      </a:r>
                      <a:r>
                        <a:rPr lang="en-US" sz="1100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востребованность ОТ, необходимость новых развязок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Политики (тарифы, ограничения въезда)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Влияние на полезность поездки → сдвиг модального распределения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62" name="Google Shape;162;p20"/>
          <p:cNvSpPr txBox="1"/>
          <p:nvPr/>
        </p:nvSpPr>
        <p:spPr>
          <a:xfrm>
            <a:off x="548640" y="3566160"/>
            <a:ext cx="59436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555555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555555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555555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555555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Результаты зависят от качества входных данных.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MATSim даёт инструмент; интерпретация — за экспертами.</a:t>
            </a:r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</a:t>
            </a:r>
            <a:endParaRPr/>
          </a:p>
        </p:txBody>
      </p:sp>
      <p:pic>
        <p:nvPicPr>
          <p:cNvPr descr="Using MATSim combined with BDI agent decision making, the evacuation due to bushfires was simulated and then visualized using Senozon Via. &#10;Video provided by Lin Padgham and Dhirendra Singh, RMIT University, Melbourne, Australia." id="164" name="Google Shape;164;p20" title="Simulation of Evacuation due to bushfires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30075" y="3325450"/>
            <a:ext cx="5459325" cy="307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3A5C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Часть II</a:t>
            </a:r>
            <a:br>
              <a:rPr b="1" i="0" lang="en-US" sz="3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i="0" lang="en-US" sz="3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Сценарий «Шамалган»</a:t>
            </a:r>
            <a:endParaRPr/>
          </a:p>
        </p:txBody>
      </p:sp>
      <p:sp>
        <p:nvSpPr>
          <p:cNvPr id="170" name="Google Shape;170;p21"/>
          <p:cNvSpPr txBox="1"/>
          <p:nvPr/>
        </p:nvSpPr>
        <p:spPr>
          <a:xfrm>
            <a:off x="914400" y="393192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BBCCD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Proof-of-concept: от подготовки данных до агентной симуляции</a:t>
            </a:r>
            <a:endParaRPr/>
          </a:p>
        </p:txBody>
      </p:sp>
      <p:sp>
        <p:nvSpPr>
          <p:cNvPr id="171" name="Google Shape;171;p21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2"/>
          <p:cNvSpPr txBox="1"/>
          <p:nvPr/>
        </p:nvSpPr>
        <p:spPr>
          <a:xfrm>
            <a:off x="548640" y="164592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Постановка задачи</a:t>
            </a:r>
            <a:endParaRPr/>
          </a:p>
        </p:txBody>
      </p:sp>
      <p:sp>
        <p:nvSpPr>
          <p:cNvPr id="178" name="Google Shape;178;p22"/>
          <p:cNvSpPr txBox="1"/>
          <p:nvPr/>
        </p:nvSpPr>
        <p:spPr>
          <a:xfrm>
            <a:off x="548640" y="1325880"/>
            <a:ext cx="45720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Территория: село Шамалган и ближние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окрестности (Алматинская область, Казахстан)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555555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Закрытая система без кордонов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(без моделирования внешнего спроса)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555555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Цель: отработать полный цикл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MATSim-моделирования — от подготовки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геоданных до агентной симуляции с ОТ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555555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Режимы: car, pt, walk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Контроль качества, визуализация</a:t>
            </a:r>
            <a:endParaRPr/>
          </a:p>
        </p:txBody>
      </p:sp>
      <p:pic>
        <p:nvPicPr>
          <p:cNvPr descr="shamalgan_satellite_wide.png" id="179" name="Google Shape;17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01340" y="1082495"/>
            <a:ext cx="3383281" cy="28348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hamalgan_satellite_closeup.png" id="180" name="Google Shape;18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01350" y="3919993"/>
            <a:ext cx="3383281" cy="281829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2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</a:t>
            </a:r>
            <a:endParaRPr/>
          </a:p>
        </p:txBody>
      </p:sp>
      <p:sp>
        <p:nvSpPr>
          <p:cNvPr id="182" name="Google Shape;182;p22"/>
          <p:cNvSpPr txBox="1"/>
          <p:nvPr/>
        </p:nvSpPr>
        <p:spPr>
          <a:xfrm>
            <a:off x="6987464" y="3655825"/>
            <a:ext cx="747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Алматы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2"/>
          <p:cNvSpPr txBox="1"/>
          <p:nvPr/>
        </p:nvSpPr>
        <p:spPr>
          <a:xfrm>
            <a:off x="5844096" y="6458857"/>
            <a:ext cx="2186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Шамалган (Жибек-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Жолы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4" name="Google Shape;184;p22"/>
          <p:cNvCxnSpPr/>
          <p:nvPr/>
        </p:nvCxnSpPr>
        <p:spPr>
          <a:xfrm flipH="1">
            <a:off x="7605650" y="2256100"/>
            <a:ext cx="525900" cy="16593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5" name="Google Shape;185;p22"/>
          <p:cNvCxnSpPr/>
          <p:nvPr/>
        </p:nvCxnSpPr>
        <p:spPr>
          <a:xfrm>
            <a:off x="8610675" y="2256600"/>
            <a:ext cx="2377200" cy="16587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3"/>
          <p:cNvSpPr txBox="1"/>
          <p:nvPr/>
        </p:nvSpPr>
        <p:spPr>
          <a:xfrm>
            <a:off x="548640" y="164592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Исходные данные: GeoPackage</a:t>
            </a:r>
            <a:endParaRPr/>
          </a:p>
        </p:txBody>
      </p:sp>
      <p:graphicFrame>
        <p:nvGraphicFramePr>
          <p:cNvPr id="192" name="Google Shape;192;p23"/>
          <p:cNvGraphicFramePr/>
          <p:nvPr/>
        </p:nvGraphicFramePr>
        <p:xfrm>
          <a:off x="548640" y="1371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{F9064FEC-ED9D-459E-BEED-1E4A128183A3}</a:tableStyleId>
              </a:tblPr>
              <a:tblGrid>
                <a:gridCol w="3688075"/>
                <a:gridCol w="3688075"/>
                <a:gridCol w="3688075"/>
              </a:tblGrid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Слой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Тип геометрии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Содержание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B3A5C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map__lines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Линии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Осевые линии УДС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map__multilinestrings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Линии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Двойные линии магистрали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New_Points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Точки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Коммерческие объекты + остановки ОТ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map__multipolygons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Полигоны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Границы застройки (не используются)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93" name="Google Shape;193;p23"/>
          <p:cNvSpPr txBox="1"/>
          <p:nvPr/>
        </p:nvSpPr>
        <p:spPr>
          <a:xfrm>
            <a:off x="548640" y="3383280"/>
            <a:ext cx="530352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555555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555555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555555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555555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Из точек извлечены POI → work_weight зон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Остановки ОТ размечены в QGIS (route direction)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Формат: «6»=&gt;«7», «11»=&gt;«15»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(маршрут → порядковый номер остановки)</a:t>
            </a:r>
            <a:endParaRPr/>
          </a:p>
        </p:txBody>
      </p:sp>
      <p:pic>
        <p:nvPicPr>
          <p:cNvPr descr="qgis_gpkg_screenshot.png" id="194" name="Google Shape;19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43600" y="3383280"/>
            <a:ext cx="5943600" cy="3180755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3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4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4"/>
          <p:cNvSpPr txBox="1"/>
          <p:nvPr/>
        </p:nvSpPr>
        <p:spPr>
          <a:xfrm>
            <a:off x="548640" y="164592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Дорожная сеть — построение</a:t>
            </a:r>
            <a:endParaRPr/>
          </a:p>
        </p:txBody>
      </p:sp>
      <p:sp>
        <p:nvSpPr>
          <p:cNvPr id="202" name="Google Shape;202;p24"/>
          <p:cNvSpPr txBox="1"/>
          <p:nvPr/>
        </p:nvSpPr>
        <p:spPr>
          <a:xfrm>
            <a:off x="548640" y="1325880"/>
            <a:ext cx="475488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Источник: OSM-файл территории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PrepareShamalganNetwork: OSM → EPSG:32643 (UTM 43N)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→ стандартные правила MATSim OsmNetworkReader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555555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Полосность: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Большинство линков: 1 полоса на направление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Единственная магистраль: 2 полосы на направление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555555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Профиль «poor» (плохое покрытие):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Местные / дворовые: ~20 км/ч, ×0,70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Коллекторные: ~30 км/ч, ×0,75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Магистраль: ~70 км/ч, ×0,85</a:t>
            </a:r>
            <a:endParaRPr/>
          </a:p>
        </p:txBody>
      </p:sp>
      <p:pic>
        <p:nvPicPr>
          <p:cNvPr descr="network_lane_overview.png" id="203" name="Google Shape;20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3520" y="1188720"/>
            <a:ext cx="6583680" cy="4811151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4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5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5"/>
          <p:cNvSpPr txBox="1"/>
          <p:nvPr/>
        </p:nvSpPr>
        <p:spPr>
          <a:xfrm>
            <a:off x="548640" y="164592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Дорожная сеть — контроль качества</a:t>
            </a:r>
            <a:endParaRPr/>
          </a:p>
        </p:txBody>
      </p:sp>
      <p:sp>
        <p:nvSpPr>
          <p:cNvPr id="211" name="Google Shape;211;p25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Итого: 1 128 узлов, 2 991 линк, одна связная компонента, 0 тупиков.  Геометрия из OSM упрощена (дуги спрямлены) — для PoC не критично.</a:t>
            </a:r>
            <a:endParaRPr/>
          </a:p>
        </p:txBody>
      </p:sp>
      <p:pic>
        <p:nvPicPr>
          <p:cNvPr descr="network_speed_overview.png" id="212" name="Google Shape;21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2103120"/>
            <a:ext cx="5669280" cy="42519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etwork_capacity_overview.png" id="213" name="Google Shape;213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17920" y="2103120"/>
            <a:ext cx="5669280" cy="425196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5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13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6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6"/>
          <p:cNvSpPr txBox="1"/>
          <p:nvPr/>
        </p:nvSpPr>
        <p:spPr>
          <a:xfrm>
            <a:off x="548640" y="164592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Распределение населения — зоны</a:t>
            </a:r>
            <a:endParaRPr/>
          </a:p>
        </p:txBody>
      </p:sp>
      <p:sp>
        <p:nvSpPr>
          <p:cNvPr id="221" name="Google Shape;221;p26"/>
          <p:cNvSpPr txBox="1"/>
          <p:nvPr/>
        </p:nvSpPr>
        <p:spPr>
          <a:xfrm>
            <a:off x="548640" y="1325880"/>
            <a:ext cx="475488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Источник: растр плотности населения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(data.humdata.org)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derive_shamalgan_zones.py →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сетка 10x8 (80 ячеек)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555555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Ячейка: ~800 м x ~600 м = 0,5 км2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Активны только ячейки с плотностью &gt; 0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555555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Для каждой зоны: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home_weight — число жителей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work_weight — число рабочих мест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(больше для зон с POI)</a:t>
            </a:r>
            <a:endParaRPr/>
          </a:p>
        </p:txBody>
      </p:sp>
      <p:pic>
        <p:nvPicPr>
          <p:cNvPr descr="06_zone_weight_map_with_grid.png" id="222" name="Google Shape;22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3520" y="1188720"/>
            <a:ext cx="6583680" cy="384048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6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14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7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7"/>
          <p:cNvSpPr txBox="1"/>
          <p:nvPr/>
        </p:nvSpPr>
        <p:spPr>
          <a:xfrm>
            <a:off x="548640" y="164592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Население — алгоритм и параметры</a:t>
            </a:r>
            <a:endParaRPr/>
          </a:p>
        </p:txBody>
      </p:sp>
      <p:sp>
        <p:nvSpPr>
          <p:cNvPr id="230" name="Google Shape;230;p27"/>
          <p:cNvSpPr txBox="1"/>
          <p:nvPr/>
        </p:nvSpPr>
        <p:spPr>
          <a:xfrm>
            <a:off x="548640" y="1325880"/>
            <a:ext cx="109728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Алгоритм размещения агента: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 </a:t>
            </a: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Выбор зоны дома (home_weight) и зоны работы (work_weight)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 Внутри зоны: length-weighted выбор линка (радиус 300 м от центроида)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 Случайная координата на выбранном линке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Fallback: разброс вокруг центроида → snap к ближайшему линку</a:t>
            </a:r>
            <a:endParaRPr/>
          </a:p>
        </p:txBody>
      </p:sp>
      <p:graphicFrame>
        <p:nvGraphicFramePr>
          <p:cNvPr id="231" name="Google Shape;231;p27"/>
          <p:cNvGraphicFramePr/>
          <p:nvPr/>
        </p:nvGraphicFramePr>
        <p:xfrm>
          <a:off x="548640" y="3657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{F9064FEC-ED9D-459E-BEED-1E4A128183A3}</a:tableStyleId>
              </a:tblPr>
              <a:tblGrid>
                <a:gridCol w="2971800"/>
                <a:gridCol w="2971800"/>
              </a:tblGrid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Параметр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Значение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B3A5C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Число агентов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~30 481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Доля занятых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65%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Начальные режимы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авто 55%, ОТ 25%, пешком 20%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План занятого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дом → работа → дом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План незанятого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дом → другое → дом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Выезд на работу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07:00–08:59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Возврат с работы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16:00–18:59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descr="08_zones_rectangles.png" id="232" name="Google Shape;232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0" y="3291840"/>
            <a:ext cx="4846320" cy="3046915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7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15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8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8"/>
          <p:cNvSpPr txBox="1"/>
          <p:nvPr/>
        </p:nvSpPr>
        <p:spPr>
          <a:xfrm>
            <a:off x="548640" y="164592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Общественный транспорт — маршруты</a:t>
            </a:r>
            <a:endParaRPr/>
          </a:p>
        </p:txBody>
      </p:sp>
      <p:sp>
        <p:nvSpPr>
          <p:cNvPr id="240" name="Google Shape;240;p28"/>
          <p:cNvSpPr txBox="1"/>
          <p:nvPr/>
        </p:nvSpPr>
        <p:spPr>
          <a:xfrm>
            <a:off x="548640" y="1325880"/>
            <a:ext cx="530352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4 маршрута: 6, 11, 213, 256 — 8 направлений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Источники: citybus.kz, Яндекс.Карты, 2ГИС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Без GTFS — маршруты размечены вручную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555555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Трасса маршрутов: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Алгоритм Дейкстры по дорожной сети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Коридоры: 213 — обязательный линк 2011;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256 — фильтр по origid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555555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Привязка остановок: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58 остановок, snap к ближайшему линку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Макс. расстояние snap: 20,6 м</a:t>
            </a:r>
            <a:endParaRPr/>
          </a:p>
        </p:txBody>
      </p:sp>
      <p:pic>
        <p:nvPicPr>
          <p:cNvPr descr="pt_routes_diagram.png" id="241" name="Google Shape;24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1280160"/>
            <a:ext cx="5303520" cy="2960104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8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16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9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9"/>
          <p:cNvSpPr txBox="1"/>
          <p:nvPr/>
        </p:nvSpPr>
        <p:spPr>
          <a:xfrm>
            <a:off x="548640" y="164592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ОТ — расписание и подвижной состав</a:t>
            </a:r>
            <a:endParaRPr/>
          </a:p>
        </p:txBody>
      </p:sp>
      <p:graphicFrame>
        <p:nvGraphicFramePr>
          <p:cNvPr id="249" name="Google Shape;249;p29"/>
          <p:cNvGraphicFramePr/>
          <p:nvPr/>
        </p:nvGraphicFramePr>
        <p:xfrm>
          <a:off x="548640" y="1371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{F9064FEC-ED9D-459E-BEED-1E4A128183A3}</a:tableStyleId>
              </a:tblPr>
              <a:tblGrid>
                <a:gridCol w="2212850"/>
                <a:gridCol w="2212850"/>
                <a:gridCol w="2212850"/>
                <a:gridCol w="2212850"/>
                <a:gridCol w="2212850"/>
              </a:tblGrid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Маршрут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Тип ТС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Вместимость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Интервал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Макс. скорость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B3A5C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6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Автобус (12 м)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35 + 30 стоячих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~30 мин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50 км/ч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11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Автобус (12 м)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35 + 30 стоячих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~15 мин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50 км/ч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213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Автобус (12 м)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35 + 30 стоячих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~10 мин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50 км/ч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256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Маршрутка (7,5 м)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18 + 8 стоячих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~20 мин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50 км/ч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50" name="Google Shape;250;p29"/>
          <p:cNvSpPr txBox="1"/>
          <p:nvPr/>
        </p:nvSpPr>
        <p:spPr>
          <a:xfrm>
            <a:off x="548640" y="3474720"/>
            <a:ext cx="530352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555555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555555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555555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555555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Расписание: 06:00–23:00 с переменными интервалами по периодам дня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Стоянка на остановке: 30 с; обгон на конечных: 5–7 мин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Всего: 522 рейса/сутки, 40 ТС в парке, 4 типа ТС</a:t>
            </a:r>
            <a:endParaRPr/>
          </a:p>
        </p:txBody>
      </p:sp>
      <p:pic>
        <p:nvPicPr>
          <p:cNvPr descr="pt_routes_schematic.png" id="251" name="Google Shape;25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3200400"/>
            <a:ext cx="5303520" cy="3697962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9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17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30"/>
          <p:cNvSpPr txBox="1"/>
          <p:nvPr/>
        </p:nvSpPr>
        <p:spPr>
          <a:xfrm>
            <a:off x="548640" y="164592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Запуск и результаты симуляции</a:t>
            </a:r>
            <a:endParaRPr/>
          </a:p>
        </p:txBody>
      </p:sp>
      <p:graphicFrame>
        <p:nvGraphicFramePr>
          <p:cNvPr id="259" name="Google Shape;259;p30"/>
          <p:cNvGraphicFramePr/>
          <p:nvPr/>
        </p:nvGraphicFramePr>
        <p:xfrm>
          <a:off x="548640" y="193269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{F9064FEC-ED9D-459E-BEED-1E4A128183A3}</a:tableStyleId>
              </a:tblPr>
              <a:tblGrid>
                <a:gridCol w="2651750"/>
                <a:gridCol w="2651750"/>
              </a:tblGrid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Показатель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Итерация 100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B3A5C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Доля авто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56,0%</a:t>
                      </a: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Доля ОТ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19,3%</a:t>
                      </a:r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Доля пеших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24,7%</a:t>
                      </a: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Средняя полезность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124,1 (на ит. 0: −24,0)</a:t>
                      </a:r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61" name="Google Shape;261;p30"/>
          <p:cNvSpPr txBox="1"/>
          <p:nvPr/>
        </p:nvSpPr>
        <p:spPr>
          <a:xfrm>
            <a:off x="548645" y="5871075"/>
            <a:ext cx="5303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Доля поездок на ОТ выросла с ~12,5% (ит. 0) до 19,3% (ит. 100); доля автомобиля остаётся доминирующей, но ниже, чем в ранних черновых отчётах с другими настройками сценария — это следует интерпретировать в связке с текущей сетью, расписанием ОТ и штрафами режимов в config.xml.</a:t>
            </a:r>
          </a:p>
        </p:txBody>
      </p:sp>
      <p:sp>
        <p:nvSpPr>
          <p:cNvPr id="262" name="Google Shape;262;p30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18</a:t>
            </a:r>
            <a:endParaRPr/>
          </a:p>
        </p:txBody>
      </p:sp>
      <p:sp>
        <p:nvSpPr>
          <p:cNvPr id="263" name="Google Shape;263;p30"/>
          <p:cNvSpPr txBox="1"/>
          <p:nvPr/>
        </p:nvSpPr>
        <p:spPr>
          <a:xfrm>
            <a:off x="548640" y="1338215"/>
            <a:ext cx="10972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П</a:t>
            </a: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осле 100 итераций:</a:t>
            </a:r>
            <a:endParaRPr/>
          </a:p>
        </p:txBody>
      </p:sp>
      <p:graphicFrame>
        <p:nvGraphicFramePr>
          <p:cNvPr id="264" name="Google Shape;264;p30"/>
          <p:cNvGraphicFramePr/>
          <p:nvPr/>
        </p:nvGraphicFramePr>
        <p:xfrm>
          <a:off x="548653" y="39567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{F9064FEC-ED9D-459E-BEED-1E4A128183A3}</a:tableStyleId>
              </a:tblPr>
              <a:tblGrid>
                <a:gridCol w="1767825"/>
                <a:gridCol w="1767825"/>
                <a:gridCol w="1767825"/>
              </a:tblGrid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Показатель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Значение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Источник / ориентир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B3A5C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Загрузка УДС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0,068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traffic_stats_by_road_type_daily.csv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Макс. скорость (ограничение)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60 км/ч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Городской лимит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Средняя фактическая скорость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23,0 км/ч</a:t>
                      </a: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traffic_stats (Avg. Speed)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265" name="Google Shape;265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18827" y="4045149"/>
            <a:ext cx="5002627" cy="281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Picture 26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5400" y="1094500"/>
            <a:ext cx="5507901" cy="30982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31"/>
          <p:cNvSpPr txBox="1"/>
          <p:nvPr/>
        </p:nvSpPr>
        <p:spPr>
          <a:xfrm>
            <a:off x="548640" y="164592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Ограничения и следующие шаги</a:t>
            </a:r>
            <a:endParaRPr/>
          </a:p>
        </p:txBody>
      </p:sp>
      <p:graphicFrame>
        <p:nvGraphicFramePr>
          <p:cNvPr id="272" name="Google Shape;272;p31"/>
          <p:cNvGraphicFramePr/>
          <p:nvPr/>
        </p:nvGraphicFramePr>
        <p:xfrm>
          <a:off x="548640" y="1371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{F9064FEC-ED9D-459E-BEED-1E4A128183A3}</a:tableStyleId>
              </a:tblPr>
              <a:tblGrid>
                <a:gridCol w="3688075"/>
                <a:gridCol w="3688075"/>
                <a:gridCol w="3688075"/>
              </a:tblGrid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Ограничение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Влияние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Приоритет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B3A5C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Упрощённая геометрия линков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Неточные длины перегонов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Высокий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ОТ — макет без GTFS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Расписание по допущениям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Средний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Нет калибровки по наблюдениям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Доли режимов не верифицированы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Средний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Нет facilities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Упрощённый спрос: дом→работа→дом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Низкий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Население без демографии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Нет возраста, наличия авто, дохода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Высокий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3" name="Google Shape;273;p31"/>
          <p:cNvSpPr txBox="1"/>
          <p:nvPr/>
        </p:nvSpPr>
        <p:spPr>
          <a:xfrm>
            <a:off x="487000" y="2931651"/>
            <a:ext cx="53034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555555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555555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555555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555555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555555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Для перехода к production-уровню необходимы: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GTFS данные по общественному транспорту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Данные транспортных обследований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Цикл калибровки на реальных замерах</a:t>
            </a:r>
            <a:endParaRPr/>
          </a:p>
        </p:txBody>
      </p:sp>
      <p:sp>
        <p:nvSpPr>
          <p:cNvPr id="274" name="Google Shape;274;p31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2"/>
          <p:cNvSpPr/>
          <p:nvPr/>
        </p:nvSpPr>
        <p:spPr>
          <a:xfrm>
            <a:off x="0" y="0"/>
            <a:ext cx="12191700" cy="1051500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32"/>
          <p:cNvSpPr txBox="1"/>
          <p:nvPr/>
        </p:nvSpPr>
        <p:spPr>
          <a:xfrm>
            <a:off x="548640" y="164592"/>
            <a:ext cx="10972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Источники данных и литература</a:t>
            </a:r>
            <a:endParaRPr/>
          </a:p>
        </p:txBody>
      </p:sp>
      <p:sp>
        <p:nvSpPr>
          <p:cNvPr id="281" name="Google Shape;281;p32"/>
          <p:cNvSpPr txBox="1"/>
          <p:nvPr/>
        </p:nvSpPr>
        <p:spPr>
          <a:xfrm>
            <a:off x="502920" y="1234440"/>
            <a:ext cx="11155800" cy="37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Данные и геоматериалы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OpenStreetMap (OSM) — геометрия УДС</a:t>
            </a:r>
            <a:r>
              <a:rPr lang="en-US" sz="1000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,, полигоны застройки</a:t>
            </a:r>
            <a:r>
              <a:rPr b="0" i="0" lang="en-US" sz="10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 https://www.openstreetmap.org/  (ODbL: https://opendatacommons.org/licenses/odbl/1-0/)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Humanitarian Data Exchange (HDX) — растр плотности 100 м: https://data.humdata.org/  (файл kaz_pop_2025_CN_100m_R2025A_v1.tif)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GeoPackage new_map.gpkg — собранный </a:t>
            </a:r>
            <a:r>
              <a:rPr lang="en-US" sz="1000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gpkg </a:t>
            </a:r>
            <a:r>
              <a:rPr b="0" i="0" lang="en-US" sz="10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на основе файла</a:t>
            </a:r>
            <a:r>
              <a:rPr lang="en-US" sz="1000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OSM.</a:t>
            </a:r>
            <a:r>
              <a:rPr b="0" i="0" lang="en-US" sz="10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1000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О</a:t>
            </a:r>
            <a:r>
              <a:rPr b="0" i="0" lang="en-US" sz="10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становки ОТ, POI; подготовка в QGIS: https://qgis.org/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citybus.kz — справочно по маршрутам: https://citybus.kz/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Яндекс.Карты, </a:t>
            </a:r>
            <a:r>
              <a:rPr lang="en-US" sz="1000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2ГИС </a:t>
            </a:r>
            <a:r>
              <a:rPr b="0" i="0" lang="en-US" sz="10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маршруты, интервалы, панорамы: </a:t>
            </a:r>
            <a:r>
              <a:rPr b="0" i="0" lang="en-US" sz="1000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https://yandex.ru/maps/ </a:t>
            </a:r>
            <a:r>
              <a:rPr lang="en-US" sz="1000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с соблюдением лицензии, без парсинга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555555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Нормативы и справочники (ориентиры в отчёте)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СН РК 3.03-01-2013 «Автомобильные дороги» — диапазоны пропускной способности в сравнительной таблице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HCM (Highway Capacity Manual), МГСН —</a:t>
            </a:r>
            <a:r>
              <a:rPr lang="en-US" sz="1000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0" i="0" lang="en-US" sz="10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ориентиры проверки атрибутов сети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555555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Методология и ПО симуляции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Horni A., Nagel K., Axhausen K.W. (eds.) The Multi-Agent Transport Simulation MATSim. Ubiquity Press.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https://www.ubiquitypress.com/reader/books/pdf/10.5334/baw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MATSim Book Part One (PDF): https://matsim.org/files/book/partOne-latest.pdf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Экосистема MATSim: https://github.com/matsim-org/matsim-code-examples  ·  GTFS2MATSim: https://github.com/matsim-org/GTFS2MATSim</a:t>
            </a:r>
            <a:endParaRPr/>
          </a:p>
        </p:txBody>
      </p:sp>
      <p:sp>
        <p:nvSpPr>
          <p:cNvPr id="282" name="Google Shape;282;p32"/>
          <p:cNvSpPr txBox="1"/>
          <p:nvPr/>
        </p:nvSpPr>
        <p:spPr>
          <a:xfrm>
            <a:off x="11338560" y="6446520"/>
            <a:ext cx="6402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21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3A5C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3"/>
          <p:cNvSpPr txBox="1"/>
          <p:nvPr/>
        </p:nvSpPr>
        <p:spPr>
          <a:xfrm>
            <a:off x="914400" y="5486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Выводы</a:t>
            </a:r>
            <a:endParaRPr/>
          </a:p>
        </p:txBody>
      </p:sp>
      <p:sp>
        <p:nvSpPr>
          <p:cNvPr id="288" name="Google Shape;288;p33"/>
          <p:cNvSpPr/>
          <p:nvPr/>
        </p:nvSpPr>
        <p:spPr>
          <a:xfrm>
            <a:off x="1097280" y="1554480"/>
            <a:ext cx="502920" cy="502920"/>
          </a:xfrm>
          <a:prstGeom prst="ellipse">
            <a:avLst/>
          </a:prstGeom>
          <a:solidFill>
            <a:srgbClr val="E88D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289" name="Google Shape;289;p33"/>
          <p:cNvSpPr txBox="1"/>
          <p:nvPr/>
        </p:nvSpPr>
        <p:spPr>
          <a:xfrm>
            <a:off x="1828800" y="1527048"/>
            <a:ext cx="8686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Полный цикл пройден</a:t>
            </a:r>
            <a:endParaRPr/>
          </a:p>
        </p:txBody>
      </p:sp>
      <p:sp>
        <p:nvSpPr>
          <p:cNvPr id="290" name="Google Shape;290;p33"/>
          <p:cNvSpPr txBox="1"/>
          <p:nvPr/>
        </p:nvSpPr>
        <p:spPr>
          <a:xfrm>
            <a:off x="1828800" y="1938528"/>
            <a:ext cx="8686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BBCCD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От подготовки геоданных до запуска многоитерационной</a:t>
            </a:r>
            <a:br>
              <a:rPr b="0" i="0" lang="en-US" sz="1400" u="none" cap="none" strike="noStrike">
                <a:solidFill>
                  <a:srgbClr val="BBCCD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400" u="none" cap="none" strike="noStrike">
                <a:solidFill>
                  <a:srgbClr val="BBCCD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симуляции с ОТ, выбором режимов и визуализацией.</a:t>
            </a:r>
            <a:endParaRPr/>
          </a:p>
        </p:txBody>
      </p:sp>
      <p:sp>
        <p:nvSpPr>
          <p:cNvPr id="291" name="Google Shape;291;p33"/>
          <p:cNvSpPr/>
          <p:nvPr/>
        </p:nvSpPr>
        <p:spPr>
          <a:xfrm>
            <a:off x="1097280" y="2788920"/>
            <a:ext cx="502920" cy="502920"/>
          </a:xfrm>
          <a:prstGeom prst="ellipse">
            <a:avLst/>
          </a:prstGeom>
          <a:solidFill>
            <a:srgbClr val="E88D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292" name="Google Shape;292;p33"/>
          <p:cNvSpPr txBox="1"/>
          <p:nvPr/>
        </p:nvSpPr>
        <p:spPr>
          <a:xfrm>
            <a:off x="1828800" y="2761488"/>
            <a:ext cx="8686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Сценарий работоспособен</a:t>
            </a:r>
            <a:endParaRPr/>
          </a:p>
        </p:txBody>
      </p:sp>
      <p:sp>
        <p:nvSpPr>
          <p:cNvPr id="293" name="Google Shape;293;p33"/>
          <p:cNvSpPr txBox="1"/>
          <p:nvPr/>
        </p:nvSpPr>
        <p:spPr>
          <a:xfrm>
            <a:off x="1828800" y="3172968"/>
            <a:ext cx="8686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BBCCD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10+ итераций без ошибок, наблюдается сходимость</a:t>
            </a:r>
            <a:br>
              <a:rPr b="0" i="0" lang="en-US" sz="1400" u="none" cap="none" strike="noStrike">
                <a:solidFill>
                  <a:srgbClr val="BBCCD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400" u="none" cap="none" strike="noStrike">
                <a:solidFill>
                  <a:srgbClr val="BBCCD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полезности и перераспределение режимов.</a:t>
            </a:r>
            <a:endParaRPr/>
          </a:p>
        </p:txBody>
      </p:sp>
      <p:sp>
        <p:nvSpPr>
          <p:cNvPr id="294" name="Google Shape;294;p33"/>
          <p:cNvSpPr/>
          <p:nvPr/>
        </p:nvSpPr>
        <p:spPr>
          <a:xfrm>
            <a:off x="1097280" y="4023360"/>
            <a:ext cx="502920" cy="502920"/>
          </a:xfrm>
          <a:prstGeom prst="ellipse">
            <a:avLst/>
          </a:prstGeom>
          <a:solidFill>
            <a:srgbClr val="E88D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sp>
        <p:nvSpPr>
          <p:cNvPr id="295" name="Google Shape;295;p33"/>
          <p:cNvSpPr txBox="1"/>
          <p:nvPr/>
        </p:nvSpPr>
        <p:spPr>
          <a:xfrm>
            <a:off x="1828800" y="3995928"/>
            <a:ext cx="8686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Атрибуты в рамках нормативов</a:t>
            </a:r>
            <a:endParaRPr/>
          </a:p>
        </p:txBody>
      </p:sp>
      <p:sp>
        <p:nvSpPr>
          <p:cNvPr id="296" name="Google Shape;296;p33"/>
          <p:cNvSpPr txBox="1"/>
          <p:nvPr/>
        </p:nvSpPr>
        <p:spPr>
          <a:xfrm>
            <a:off x="1828800" y="4407408"/>
            <a:ext cx="8686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BBCCD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Сеть и ОТ проверены по HCM, МГСН,</a:t>
            </a:r>
            <a:br>
              <a:rPr b="0" i="0" lang="en-US" sz="1400" u="none" cap="none" strike="noStrike">
                <a:solidFill>
                  <a:srgbClr val="BBCCD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400" u="none" cap="none" strike="noStrike">
                <a:solidFill>
                  <a:srgbClr val="BBCCD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открытым данным Яндекс/2ГИС.</a:t>
            </a:r>
            <a:endParaRPr/>
          </a:p>
        </p:txBody>
      </p:sp>
      <p:sp>
        <p:nvSpPr>
          <p:cNvPr id="297" name="Google Shape;297;p33"/>
          <p:cNvSpPr/>
          <p:nvPr/>
        </p:nvSpPr>
        <p:spPr>
          <a:xfrm>
            <a:off x="1097280" y="5257800"/>
            <a:ext cx="502920" cy="502920"/>
          </a:xfrm>
          <a:prstGeom prst="ellipse">
            <a:avLst/>
          </a:prstGeom>
          <a:solidFill>
            <a:srgbClr val="E88D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/>
          </a:p>
        </p:txBody>
      </p:sp>
      <p:sp>
        <p:nvSpPr>
          <p:cNvPr id="298" name="Google Shape;298;p33"/>
          <p:cNvSpPr txBox="1"/>
          <p:nvPr/>
        </p:nvSpPr>
        <p:spPr>
          <a:xfrm>
            <a:off x="1828800" y="5230368"/>
            <a:ext cx="8686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Минимальные данные → работающая модель</a:t>
            </a:r>
            <a:endParaRPr/>
          </a:p>
        </p:txBody>
      </p:sp>
      <p:sp>
        <p:nvSpPr>
          <p:cNvPr id="299" name="Google Shape;299;p33"/>
          <p:cNvSpPr txBox="1"/>
          <p:nvPr/>
        </p:nvSpPr>
        <p:spPr>
          <a:xfrm>
            <a:off x="1828800" y="5641848"/>
            <a:ext cx="8686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BBCCD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OSM + растр плотности + маршруты — достаточно для</a:t>
            </a:r>
            <a:br>
              <a:rPr b="0" i="0" lang="en-US" sz="1400" u="none" cap="none" strike="noStrike">
                <a:solidFill>
                  <a:srgbClr val="BBCCD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400" u="none" cap="none" strike="noStrike">
                <a:solidFill>
                  <a:srgbClr val="BBCCD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proof-of-concept. Для production: GTFS + калибровка.</a:t>
            </a:r>
            <a:endParaRPr/>
          </a:p>
        </p:txBody>
      </p:sp>
      <p:sp>
        <p:nvSpPr>
          <p:cNvPr id="300" name="Google Shape;300;p33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21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