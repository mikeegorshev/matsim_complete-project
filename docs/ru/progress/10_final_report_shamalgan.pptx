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/>
            </a:pPr>
            <a:r>
              <a:t>Транспортная модель сценария «Шамалган»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/>
            </a:pPr>
            <a:r>
              <a:t>Итоговый отчёт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Село Шамалган и окрестности (Алматинская область, Казахстан)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/>
            </a:pPr>
            <a:r>
              <a:t>MATSim · proof-of-concept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Территория: село Шамалган и ближние окрестности (закрытая система без кордонов).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Цель: отработать полный цикл — от подготовки данных до агентной симуляции с ОТ.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УДС, выбор режимов (car / pt / walk), визуализация результатов.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Фреймворк: MATSim.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Исходные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GeoPackage (new_map.gpkg): линки УДС, точки (остановки ОТ, POI), полигоны.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OSM (map): геометрия дорог для построения сети.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Растр плотности населения → скрипт derive_shamalgan_zones.py → сетка зон 10×8, zones-derived.csv.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Остановки ОТ размечены вручную в QGIS (route direction).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Карта зон (прямоугольники 10×8, заливка по home_weight):</a:t>
            </a:r>
          </a:p>
        </p:txBody>
      </p:sp>
      <p:pic>
        <p:nvPicPr>
          <p:cNvPr id="8" name="Picture 7" descr="08_zones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Дорожная сеть (УДС)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Построение: PrepareShamalganNetwork, OSM → EPSG:32643, правила MATSim OsmNetworkReader.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Полосность: 1 полоса на направление (большинство), магистраль — 2. Профиль «poor» (плохое покрытие).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Скорости: местные ~20 км/ч, магистраль ~70 км/ч. Пропускная способность снижена на 15–30%.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Итог: 1 128 узлов, 2 991 линк, одна связная компонента, 0 тупиков и изолятов.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Обзор полосности и скоростей по сети:</a:t>
            </a:r>
          </a:p>
        </p:txBody>
      </p:sp>
      <p:pic>
        <p:nvPicPr>
          <p:cNvPr id="8" name="Picture 7" descr="network_lan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Распределение населения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Зоны 10×8 (долгота/широта), home_weight / work_weight, sigma_m = 300 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Размещение: выбор зоны по весам → линк в радиусе sigma_m (вероятность ∝ длине линка) → координата на линке.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~30 481 агент, 65% занятых. Планы: дом→работа→дом / дом→другое→дом.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Начальные режимы: авто 55%, ОТ 25%, пешком 20% (далее перераспределяет MATSim).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Распределение активностей по звеньям: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Общественный транспорт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4 маршрута (6, 11, 213, 256) — 8 направлений. Источники: citybus.kz, Яндекс, 2ГИС.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Трасса: Дейкстра по сети + коридоры (213 — ключевой линк; 256 — по origid).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58 остановок, snap &lt; 21 м. Расписание 06:00–23:00, интервалы 10–30 мин по маршруту.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522 рейса/сутки, 40 ТС. Автобус 65 чел., маршрутка 26 чел. Стоянка 60 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Маршруты ОТ по сети:</a:t>
            </a:r>
          </a:p>
        </p:txBody>
      </p:sp>
      <p:pic>
        <p:nvPicPr>
          <p:cNvPr id="8" name="Picture 7" descr="pt_network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Запуск и результаты симуляции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RunShamalgan, config.xml, 11 итераций (0–10), qsim.endTime=30:00:00, SwissRailRaptor.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Результаты (ит. 10): авто 52,4%, ОТ 13,9%, пешком 33,6%. Средняя полезность 126,0 (рост с 115,3).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Сходимость: рост полезности по итерациям. Доля ОТ снизилась — модель перевела часть на пешие поездки.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Сходимость (средняя полезность и доли режимов):</a:t>
            </a:r>
          </a:p>
        </p:txBody>
      </p:sp>
      <p:pic>
        <p:nvPicPr>
          <p:cNvPr id="7" name="Picture 6" descr="simulation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Аудит реалистичности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УДС: пропускная способность и полосность в рамках HCM/МГСН (магистраль 1500–2000 авт/ч на полосу, местные 300–600).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ОТ: вместимость автобуса 65 чел. и маршрутки 26 чел. — норма; скорость 25–32 км/ч и интервалы 10–30 мин — типично для пригорода; стоянка 60 с — консервативно.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Подробно: 08_uds_capacity_lanes_audit.md, 09_pt_network_attributes_audit.md.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Ограничения и следующие шаги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Упрощённая геометрия линков (спрямление дуг) — средний приоритет.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ОТ — макет без GTFS — средний.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Нет калибровки по наблюдениям — высокий при переходе к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• Нет facilities, синтетическое население без демографии — низкий для proof-of-concept.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Для production: GTFS, данные обследований, калибровка на замерах.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1. Полный цикл пройден: от геоданных до многоитерационной симуляции с ОТ и выбором режимов.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2. Сценарий работоспособен: 10+ итераций без ошибок, сходимость и перераспределение режимов.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3. Атрибуты сети и ОТ в рамках нормативов (HCM, МГСН, Яндекс/2ГИС).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4. При минимальных данных (OSM, растр, маршруты) можно быстро собрать работающий сценарий MATSim; для production нужны GTFS и калибровка.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