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commentAuthors.xml" ContentType="application/vnd.openxmlformats-officedocument.presentationml.commentAuthors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75" r:id="rId33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y="6858000" cx="12191675"/>
  <p:notesSz cx="6858000" cy="9144000"/>
  <p:embeddedFontLst>
    <p:embeddedFont>
      <p:font typeface="Quattrocento Sans"/>
      <p:regular r:id="rId27"/>
      <p:bold r:id="rId28"/>
      <p:italic r:id="rId29"/>
      <p:boldItalic r:id="rId30"/>
    </p:embeddedFont>
    <p:embeddedFont>
      <p:font typeface="Comfortaa"/>
      <p:regular r:id="rId31"/>
      <p:bold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8" name=""/>
  <p:cmAuthor clrIdx="1" id="1" initials="" lastIdx="1" name="Михаил Егоршев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28DC826-5D3D-4FB7-B5F4-2E95C438D35E}">
  <a:tblStyle styleId="{628DC826-5D3D-4FB7-B5F4-2E95C438D35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 b="off" i="off"/>
      <a:tcStyle>
        <a:fill>
          <a:solidFill>
            <a:srgbClr val="CFD7E7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FD7E7"/>
          </a:solidFill>
        </a:fill>
      </a:tcStyle>
    </a:band1V>
    <a:band2V>
      <a:tcTxStyle b="off" i="off"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commentAuthors" Target="commentAuthors.xml"/><Relationship Id="rId6" Type="http://schemas.openxmlformats.org/officeDocument/2006/relationships/slideMaster" Target="slideMasters/slideMaster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QuattrocentoSans-regular.fntdata"/><Relationship Id="rId28" Type="http://schemas.openxmlformats.org/officeDocument/2006/relationships/font" Target="fonts/QuattrocentoSans-bold.fntdata"/><Relationship Id="rId29" Type="http://schemas.openxmlformats.org/officeDocument/2006/relationships/font" Target="fonts/QuattrocentoSans-italic.fntdata"/><Relationship Id="rId30" Type="http://schemas.openxmlformats.org/officeDocument/2006/relationships/font" Target="fonts/QuattrocentoSans-boldItalic.fntdata"/><Relationship Id="rId31" Type="http://schemas.openxmlformats.org/officeDocument/2006/relationships/font" Target="fonts/Comfortaa-regular.fntdata"/><Relationship Id="rId32" Type="http://schemas.openxmlformats.org/officeDocument/2006/relationships/font" Target="fonts/Comfortaa-bold.fntdata"/><Relationship Id="rId33" Type="http://schemas.openxmlformats.org/officeDocument/2006/relationships/slide" Target="slides/slide9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04-02T11:40:29.405">
    <p:pos x="6000" y="0"/>
    <p:text>++
-Ivan Vasiliev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6-04-02T11:40:29.408">
    <p:pos x="6000" y="0"/>
    <p:text>Можно добавить разделов со сравнением и топить visum дальше
-Ivan Vasiliev</p:text>
  </p:cm>
  <p:cm authorId="0" idx="3" dt="2026-04-02T11:40:29.409">
    <p:pos x="6000" y="100"/>
    <p:text>Я вот как раз хотел добавить слайд-два для сравнения
-Михаил Егоршев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04-02T11:40:29.410">
    <p:pos x="6000" y="0"/>
    <p:text>не оч понял как полезность расчитывается
-Ivan Vasiliev</p:text>
  </p:cm>
  <p:cm authorId="0" idx="5" dt="2026-04-02T11:40:29.410">
    <p:pos x="6000" y="100"/>
    <p:text>++ поработаю над этим
-Михаил Егоршев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4-02T12:12:21.287">
    <p:pos x="6000" y="0"/>
    <p:text>О! А как там балансируется распеределение?
-Ivan Vasiliev</p:text>
  </p:cm>
  <p:cm authorId="1" idx="1" dt="2026-04-02T12:12:21.287">
    <p:pos x="6000" y="0"/>
    <p:text>всм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7" dt="2026-04-02T11:40:29.410">
    <p:pos x="6000" y="0"/>
    <p:text>++
-Ivan Vasiliev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4-02T11:40:29.410">
    <p:pos x="6000" y="0"/>
    <p:text>красаучег
1 total reaction
Михаил Егоршев reacted with ❤️ at 2026-04-02 06:34 AM
-Ivan Vasiliev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14" name="Google Shape;11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6" name="Google Shape;12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9" name="Google Shape;13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8" name="Google Shape;14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8" name="Google Shape;15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9" name="Google Shape;18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98" name="Google Shape;19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8" name="Google Shape;208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p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0" name="Google Shape;260;p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8" name="Google Shape;268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Relationship Id="rId4" Type="http://schemas.openxmlformats.org/officeDocument/2006/relationships/hyperlink" Target="http://www.youtube.com/watch?v=cijxkx7AA3U" TargetMode="External"/><Relationship Id="rId5" Type="http://schemas.openxmlformats.org/officeDocument/2006/relationships/image" Target="../media/image10.jpg"/><Relationship Id="rId6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omments" Target="../comments/comment2.xml"/><Relationship Id="rId4" Type="http://schemas.openxmlformats.org/officeDocument/2006/relationships/image" Target="../media/image2.png"/><Relationship Id="rId5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3.xml"/><Relationship Id="rId4" Type="http://schemas.openxmlformats.org/officeDocument/2006/relationships/image" Target="../media/image21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://www.youtube.com/watch?v=RieEzwqNwV8" TargetMode="External"/><Relationship Id="rId4" Type="http://schemas.openxmlformats.org/officeDocument/2006/relationships/image" Target="../media/image6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Relationship Id="rId4" Type="http://schemas.openxmlformats.org/officeDocument/2006/relationships/image" Target="../media/image1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4.xml"/><Relationship Id="rId4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image" Target="../media/image4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comments" Target="../comments/comment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comments" Target="../comments/comment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914400" y="164592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Транспортная модель</a:t>
            </a:r>
            <a:b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4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сценария «Шамалган»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914400" y="338328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MATSim · proof-of-concept · Алматинская область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88AACC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февраль – март 2026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4114800" y="3931920"/>
            <a:ext cx="3931920" cy="36576"/>
          </a:xfrm>
          <a:prstGeom prst="rect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Содержание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  -- Введение в 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Что такое 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Агент и план на день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Сеть и транспортные отрезки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4. Общественный транспорт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5. Оценка плана, итерации, сходимость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6. Применения 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/>
        </p:nvSpPr>
        <p:spPr>
          <a:xfrm>
            <a:off x="6217920" y="1325880"/>
            <a:ext cx="54864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II -- Сценарий «Шамалган»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7.  Постановка задачи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8.  Исходные данные (GeoPackage)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9.  Дорожная сеть -- построение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10. Дорожная сеть -- контроль качества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11. Распределение населения -- зоны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12. Население -- алгоритм и параметры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13. Общественный транспорт -- маршруты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14. ОТ -- расписание и подвижной состав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15. Запуск и результаты симуляции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16. Валидация: УДС и ОТ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17. Ограничения и следующие шаги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18. Выводы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5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Что такое 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548640" y="658368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Multi-Agent Transport Simulation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548640" y="1325880"/>
            <a:ext cx="5486400" cy="241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Платформа с открытым кодом для симуляции транспортного спроса и потоков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Используется по всему миру: Берлин, Париж, Вена и др.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Открытый исходный код - документация и код в свободном доступе, можно адаптировать и верифицировать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Агентный подход - каждый «житель» -  отдельный агент с расписанием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Лицензия - </a:t>
            </a:r>
            <a:r>
              <a:rPr b="0" i="0" lang="en-US" sz="1400" u="none" cap="none" strike="noStrike">
                <a:solidFill>
                  <a:schemeClr val="dk1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Бесплатная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GNU General Public License 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berlin_1.jpg" id="105" name="Google Shape;10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19813" y="4023288"/>
            <a:ext cx="4544075" cy="2556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5" title="MATSim Simulation - Birmingham, Alabama, USA">
            <a:hlinkClick r:id="rId4"/>
          </p:cNvPr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38300" y="3996200"/>
            <a:ext cx="4640350" cy="261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338300" y="1218775"/>
            <a:ext cx="4640350" cy="2610209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5"/>
          <p:cNvSpPr txBox="1"/>
          <p:nvPr/>
        </p:nvSpPr>
        <p:spPr>
          <a:xfrm>
            <a:off x="5972875" y="3463800"/>
            <a:ext cx="1365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Торонто, Канада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5972875" y="6136025"/>
            <a:ext cx="1365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Бирмингем, США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246700" y="6336125"/>
            <a:ext cx="30000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Берлин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6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 и план на день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48640" y="1325880"/>
            <a:ext cx="50292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Каждый агент — упрощённое представление человека.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 агента есть план на день (цепочка активностей и поездок):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Активность «дом» (до 07:30)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Поездка до работы (ИТ / ОТ / пешком / другой режим)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Активность «работа» (до 17:00)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4. Поездка домой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5. Активность «дом» до конца дня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 привязан к местам и режимам.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У агента есть до 5 планов поездки на день, случайные 20% меняют план каждую итерацию</a:t>
            </a:r>
            <a:endParaRPr b="0" i="0" sz="1400" u="none" cap="none" strike="noStrike">
              <a:solidFill>
                <a:srgbClr val="000000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matsim_agent_plan_diagram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69280" y="1280160"/>
            <a:ext cx="6217920" cy="3847795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/>
          <p:nvPr/>
        </p:nvSpPr>
        <p:spPr>
          <a:xfrm>
            <a:off x="509225" y="4863625"/>
            <a:ext cx="5289000" cy="1790700"/>
          </a:xfrm>
          <a:prstGeom prst="rect">
            <a:avLst/>
          </a:prstGeom>
          <a:solidFill>
            <a:schemeClr val="lt2"/>
          </a:solidFill>
          <a:ln cap="flat" cmpd="sng" w="3810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509231" y="4851290"/>
            <a:ext cx="53484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omfortaa"/>
                <a:ea typeface="Comfortaa"/>
                <a:cs typeface="Comfortaa"/>
                <a:sym typeface="Comfortaa"/>
              </a:rPr>
              <a:t>В MATSim используется агентный подход симуляции населения. Каждый агент имеет уникальный план.</a:t>
            </a:r>
            <a:endParaRPr b="0" i="1" sz="1200" u="none" cap="none" strike="noStrike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“Цифровой двойник” населения, гибкость перераспределения режимов и потоков</a:t>
            </a:r>
            <a:endParaRPr b="0" i="1" sz="1200" u="none" cap="none" strike="noStrike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1" sz="1200" u="none" cap="none" strike="noStrike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omfortaa"/>
                <a:ea typeface="Comfortaa"/>
                <a:cs typeface="Comfortaa"/>
                <a:sym typeface="Comfortaa"/>
              </a:rPr>
              <a:t>ptv Visum использует районную модель (TAZ), где “житель” - поездка - моделируется матрицей корреспонденций. </a:t>
            </a:r>
            <a:endParaRPr b="0" i="1" sz="1200" u="none" cap="none" strike="noStrike">
              <a:solidFill>
                <a:schemeClr val="accent6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accent2"/>
                </a:solidFill>
                <a:latin typeface="Comfortaa"/>
                <a:ea typeface="Comfortaa"/>
                <a:cs typeface="Comfortaa"/>
                <a:sym typeface="Comfortaa"/>
              </a:rPr>
              <a:t>Уклон в стратегическое планирование и детальные карты спроса</a:t>
            </a:r>
            <a:endParaRPr b="0" i="1" sz="1200" u="none" cap="none" strike="noStrike">
              <a:solidFill>
                <a:schemeClr val="accent2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73775" y="1223675"/>
            <a:ext cx="6115301" cy="54306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7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и транспортные отрезки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7"/>
          <p:cNvSpPr txBox="1"/>
          <p:nvPr/>
        </p:nvSpPr>
        <p:spPr>
          <a:xfrm>
            <a:off x="104600" y="1132125"/>
            <a:ext cx="5249700" cy="187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- граф, состоящий из: </a:t>
            </a:r>
            <a:b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 Узлы - перекрёстки</a:t>
            </a:r>
            <a:b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Отрезки - дороги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Точки - коммерческие объекты, пункты остановок итд..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узлов: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Регулируюмый/Нерегулируемый перекресток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Тип регулирования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Повороты</a:t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pic>
        <p:nvPicPr>
          <p:cNvPr descr="network_speed_overview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2925" y="2880360"/>
            <a:ext cx="5303522" cy="3977642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/>
          <p:nvPr/>
        </p:nvSpPr>
        <p:spPr>
          <a:xfrm>
            <a:off x="5664650" y="230450"/>
            <a:ext cx="5673900" cy="554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7"/>
          <p:cNvSpPr txBox="1"/>
          <p:nvPr/>
        </p:nvSpPr>
        <p:spPr>
          <a:xfrm>
            <a:off x="5784200" y="230450"/>
            <a:ext cx="543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1" lang="en-US" sz="1200" u="none" cap="none" strike="noStrike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В модели Шамалгана используется ограниченное количество возможностей MATSim. </a:t>
            </a:r>
            <a:endParaRPr b="0" i="1" sz="1200" u="none" cap="none" strike="noStrike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71675" y="3000525"/>
            <a:ext cx="4388751" cy="3737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6230175" y="1051550"/>
            <a:ext cx="6042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отрезков: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Длина и допустимая скорость → время проезда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Пропускная способность → задержки при перегрузке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Полосность → интерпретация вместимости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точек: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Является ли пунктом остановки и принадлежит какому маршруту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POI - коммерческие объекты, заправки, рекреационные зоны</a:t>
            </a:r>
            <a:endParaRPr b="0" i="0" sz="12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8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Общественный транспорт в 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8"/>
          <p:cNvSpPr txBox="1"/>
          <p:nvPr/>
        </p:nvSpPr>
        <p:spPr>
          <a:xfrm>
            <a:off x="548640" y="1325880"/>
            <a:ext cx="530352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задаётся тремя компонентами: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Остановки — привязаны к линкам сети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Маршруты — последовательность остановок и линков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Расписание — время отправления и интервалы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Агенты с режимом «ОТ» получают маршрут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 учётом расписания, пересадок, ожидания.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Можно оценивать влияние изменения интервалов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или новых линий на пассажиропотоки и время поездок.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t_schematic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24442" y="1153145"/>
            <a:ext cx="7867262" cy="5486401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9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Оценка плана, итерации и сходимость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548640" y="1325880"/>
            <a:ext cx="5303400" cy="344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Полезность (utility) — числовая оценка «качества» дня агента:</a:t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Полезность плана = сумма полезностей всех активностей</a:t>
            </a:r>
            <a:endParaRPr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+ время в нужных активностях (работа, дом, покупки)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− время в пути, ожидание, пересадки, расходы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Итерация = один «виртуальный день»: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1. Выполнение планов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2. Оценка результатов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3. Перепланирование — часть агентов меняет решения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Повторяется десятки — сотни раз → доли режимов, загрузка,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средняя полезность выходят на устойчивое состояние.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64000" y="1135375"/>
            <a:ext cx="6152673" cy="3460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05975" y="4773780"/>
            <a:ext cx="6268721" cy="1779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20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Зачем нужен MATSim: примеры задач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62" name="Google Shape;162;p20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5532125"/>
                <a:gridCol w="55321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Задача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Как помогает MATSim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Новая линия ОТ / изменение расписания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Перераспределение пассажиров, время в пути, загрузка пересадочных узлов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Ремонт или сужение дороги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Задержки, смена маршрутов и режимов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Сравнение сценариев до/после застройки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Анализ интенсивности, востребованность ОТ, необходимость новых развязок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Политики (тарифы, ограничения въезда)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Влияние на полезность поездки → сдвиг модального распределения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63" name="Google Shape;163;p20"/>
          <p:cNvSpPr txBox="1"/>
          <p:nvPr/>
        </p:nvSpPr>
        <p:spPr>
          <a:xfrm>
            <a:off x="548640" y="3566160"/>
            <a:ext cx="59436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Результаты зависят от качества входных данных.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MATSim даёт инструмент; интерпретация — за экспертами.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Using MATSim combined with BDI agent decision making, the evacuation due to bushfires was simulated and then visualized using Senozon Via. &#10;Video provided by Lin Padgham and Dhirendra Singh, RMIT University, Melbourne, Australia." id="165" name="Google Shape;165;p20" title="Simulation of Evacuation due to bushfires">
            <a:hlinkClick r:id="rId3"/>
          </p:cNvPr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0075" y="3325450"/>
            <a:ext cx="5459325" cy="3070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46304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/>
            </a:pPr>
            <a:r>
              <a:t>MATSim и PTV Visum: конкуренция и дополнение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24128"/>
            <a:ext cx="11109960" cy="5257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 b="0"/>
            </a:pPr>
            <a:r>
              <a:t>Парадигма: это не контраст «микро против макро» по итоговым отчётам — оба подхода выдают агрегированные показатели (потоки на линках, доли режимов, коридоры). Разница в том, как задан спрос и согласование: в MATSim — дискретные агенты и планы дня, связка спрос–сеть через итерации микросимуляции; в Visum — зоны, OD-матрицы и назначение на сеть в логике классической макромодели (часто 4-step / равновесие) и экосистемы PTV.</a:t>
            </a:r>
          </a:p>
          <a:p>
            <a:pPr>
              <a:spcAft>
                <a:spcPts val="300"/>
              </a:spcAft>
              <a:defRPr sz="1300" b="0"/>
            </a:pPr>
          </a:p>
          <a:p>
            <a:pPr>
              <a:spcAft>
                <a:spcPts val="300"/>
              </a:spcAft>
              <a:defRPr sz="1300" b="1"/>
            </a:pPr>
            <a:r>
              <a:t>Конкурируют:</a:t>
            </a:r>
          </a:p>
          <a:p>
            <a:pPr lvl="1">
              <a:spcAft>
                <a:spcPts val="300"/>
              </a:spcAft>
              <a:defRPr sz="1300" b="0"/>
            </a:pPr>
            <a:r>
              <a:t>выбор «главной» модели города при ограниченном бюджете (лицензии Visum vs открытый MATSim + экспертиза);</a:t>
            </a:r>
          </a:p>
          <a:p>
            <a:pPr lvl="1">
              <a:spcAft>
                <a:spcPts val="300"/>
              </a:spcAft>
              <a:defRPr sz="1300" b="0"/>
            </a:pPr>
            <a:r>
              <a:t>оценка загрузки УДС и ОТ для тех же решений — разная методология и входные данные;</a:t>
            </a:r>
          </a:p>
          <a:p>
            <a:pPr lvl="1">
              <a:spcAft>
                <a:spcPts val="300"/>
              </a:spcAft>
              <a:defRPr sz="1300" b="0"/>
            </a:pPr>
            <a:r>
              <a:t>одна команда редко одновременно глубоко владеет обоими стеками.</a:t>
            </a:r>
          </a:p>
          <a:p>
            <a:pPr>
              <a:spcAft>
                <a:spcPts val="300"/>
              </a:spcAft>
              <a:defRPr sz="1300" b="0"/>
            </a:pPr>
          </a:p>
          <a:p>
            <a:pPr>
              <a:spcAft>
                <a:spcPts val="300"/>
              </a:spcAft>
              <a:defRPr sz="1300" b="1"/>
            </a:pPr>
            <a:r>
              <a:t>Дополняют:</a:t>
            </a:r>
          </a:p>
          <a:p>
            <a:pPr lvl="1">
              <a:spcAft>
                <a:spcPts val="300"/>
              </a:spcAft>
              <a:defRPr sz="1300" b="0"/>
            </a:pPr>
            <a:r>
              <a:t>Visum — калиброванные OD, экранные линии, стратегические коридоры; MATSim — сценарии «что если», агенты, согласование спрос–сеть;</a:t>
            </a:r>
          </a:p>
          <a:p>
            <a:pPr lvl="1">
              <a:spcAft>
                <a:spcPts val="300"/>
              </a:spcAft>
              <a:defRPr sz="1300" b="0"/>
            </a:pPr>
            <a:r>
              <a:t>пайплайн Шамалгана: зоны/население можно брать из Visum вместо растра — дополнение, не замена;</a:t>
            </a:r>
          </a:p>
          <a:p>
            <a:pPr lvl="1">
              <a:spcAft>
                <a:spcPts val="300"/>
              </a:spcAft>
              <a:defRPr sz="1300" b="0"/>
            </a:pPr>
            <a:r>
              <a:t>Берлин: BVG использует PTV Visum; TU Berlin разрабатывает MATSim — сосуществование инструментов в одном городе.</a:t>
            </a:r>
          </a:p>
          <a:p>
            <a:pPr>
              <a:spcAft>
                <a:spcPts val="300"/>
              </a:spcAft>
              <a:defRPr sz="1300" b="0"/>
            </a:pPr>
          </a:p>
          <a:p>
            <a:pPr>
              <a:spcAft>
                <a:spcPts val="300"/>
              </a:spcAft>
              <a:defRPr sz="1300" b="0"/>
            </a:pPr>
            <a:r>
              <a:t>Схема: Visum (матрицы, зоны, калибровка) → MATSim (агенты, политики, сходимость) → согласование сценариев / валидация.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338560" y="6446520"/>
            <a:ext cx="685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Часть II</a:t>
            </a:r>
            <a:b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3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Сценарий «Шамалган»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914400" y="3931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Proof-of-concept: от подготовки данных до агентной симуляции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p2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22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Постановка задачи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22"/>
          <p:cNvSpPr txBox="1"/>
          <p:nvPr/>
        </p:nvSpPr>
        <p:spPr>
          <a:xfrm>
            <a:off x="548640" y="1325880"/>
            <a:ext cx="4572000" cy="3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Территория: село Шамалган и ближние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окрестности (Алматинская область, Казахстан)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Закрытая система без кордонов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(без моделирования внешнего спроса)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Цель: отработать полный цикл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MATSim-моделирования — от подготовки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геоданных до агентной симуляции с ОТ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Режимы: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индивидуальный транспорт, общественный транспорт, пеший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Контроль качества, визуализация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shamalgan_satellite_wide.png" id="180" name="Google Shape;18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01340" y="1082495"/>
            <a:ext cx="3383281" cy="283481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hamalgan_satellite_closeup.png" id="181" name="Google Shape;18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01350" y="3919993"/>
            <a:ext cx="3383281" cy="28182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2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11</a:t>
            </a:r>
          </a:p>
        </p:txBody>
      </p:sp>
      <p:sp>
        <p:nvSpPr>
          <p:cNvPr id="183" name="Google Shape;183;p22"/>
          <p:cNvSpPr txBox="1"/>
          <p:nvPr/>
        </p:nvSpPr>
        <p:spPr>
          <a:xfrm>
            <a:off x="6987464" y="3655825"/>
            <a:ext cx="747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Алматы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2"/>
          <p:cNvSpPr txBox="1"/>
          <p:nvPr/>
        </p:nvSpPr>
        <p:spPr>
          <a:xfrm>
            <a:off x="5844096" y="6458857"/>
            <a:ext cx="2186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Шамалган (Жибек-Жолы)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5" name="Google Shape;185;p22"/>
          <p:cNvCxnSpPr/>
          <p:nvPr/>
        </p:nvCxnSpPr>
        <p:spPr>
          <a:xfrm flipH="1">
            <a:off x="7605650" y="2256100"/>
            <a:ext cx="525900" cy="1659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6" name="Google Shape;186;p22"/>
          <p:cNvCxnSpPr/>
          <p:nvPr/>
        </p:nvCxnSpPr>
        <p:spPr>
          <a:xfrm>
            <a:off x="8610675" y="2256600"/>
            <a:ext cx="2377200" cy="16587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3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Дорожная сеть — построение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23"/>
          <p:cNvSpPr txBox="1"/>
          <p:nvPr/>
        </p:nvSpPr>
        <p:spPr>
          <a:xfrm>
            <a:off x="548640" y="1325880"/>
            <a:ext cx="4755000" cy="409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Источник: OSM-файл территории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Класс PrepareShamalganNetwork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берет OSM файл и местную систему координат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EPSG:32643 (UTM 43N),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далее применяются</a:t>
            </a:r>
            <a:r>
              <a:rPr lang="en-US"/>
              <a:t>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стандартные правила класса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OsmNetworkReader, который переводит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шейп в MATSim-совместимый граф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Полосность: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Большинство линков: 1 полоса на направление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Единственная магистраль: 2 полосы на направление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Профиль «poor» (плохое покрытие):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Местные / дворовые: ~20 км/ч, ×0,70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Коллекторные: ~30 км/ч, ×0,75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Магистраль: ~70 км/ч, ×0,85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_lane_overview.png" id="194" name="Google Shape;194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6583680" cy="4811151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23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4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Дорожная сеть — контроль качества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4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Итого: 1 128 узлов, 2 991 линк, одна связная компонента, 0 тупиков.  Геометрия из OSM упрощена (дуги спрямлены) — для PoC не критично.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network_speed_overview.png" id="203" name="Google Shape;203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5760" y="2103120"/>
            <a:ext cx="5669280" cy="42519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network_capacity_overview.png" id="204" name="Google Shape;204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2103120"/>
            <a:ext cx="5669280" cy="425196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4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Распределение населения — зоны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5"/>
          <p:cNvSpPr txBox="1"/>
          <p:nvPr/>
        </p:nvSpPr>
        <p:spPr>
          <a:xfrm>
            <a:off x="548640" y="1325880"/>
            <a:ext cx="475488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Источник: растр плотности населения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(data.humdata.org)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derive_shamalgan_zones.py →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сетка 10x8 (80 ячеек)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Ячейка: ~800 м x ~600 м = 0,5 км2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Активны только ячейки с плотностью &gt; 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Для каждой зоны: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home_weight — число жителей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work_weight — число рабочих мест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(больше для зон с POI)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06_zone_weight_map_with_grid.png" id="213" name="Google Shape;213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3520" y="1188720"/>
            <a:ext cx="6583680" cy="384048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5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Население — алгоритм и параметры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548640" y="1325880"/>
            <a:ext cx="109728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Алгоритм размещения агента: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Выбор зоны дома (home_weight) и зоны работы (work_weight) по формуле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вес_зоны/вес_всех_зон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Внутри зоны: выбор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отрезка</a:t>
            </a: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 вероятностью, пропорциональной его длине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Случайная координата на выбранном </a:t>
            </a:r>
            <a:r>
              <a:rPr lang="en-US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отрезке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22" name="Google Shape;222;p26"/>
          <p:cNvGraphicFramePr/>
          <p:nvPr/>
        </p:nvGraphicFramePr>
        <p:xfrm>
          <a:off x="548640" y="32012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2971800"/>
                <a:gridCol w="297180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Параметр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Значение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Число агентов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~30 481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занятых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65%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Начальные режимы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 55%, ОТ 25%, пешком 20%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План занятого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дом → работа → дом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План незанятого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дом → другое → дом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Выезд на работу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07:00–08:59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Возврат с работы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16:00–18:59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08_zones_rectangles.png" id="223" name="Google Shape;22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21000" y="3067665"/>
            <a:ext cx="4846318" cy="3046914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7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Общественный транспорт — маршруты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27"/>
          <p:cNvSpPr txBox="1"/>
          <p:nvPr/>
        </p:nvSpPr>
        <p:spPr>
          <a:xfrm>
            <a:off x="391015" y="1177880"/>
            <a:ext cx="5303400" cy="3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 маршрута: 6, 11, 213, 256 — 8 направлений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Источники: citybus.kz, Яндекс.Карты, 2ГИС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Без GTFS — маршруты размечены вручную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Трасса маршрутов: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Алгоритм Дейкстры по дорожной сети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Коридоры: 213 — обязательный линк 2011;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256 — фильтр по origid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Привязка остановок: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58 остановок, snap к ближайшему линку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Макс. расстояние snap: 20,6 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t_routes_diagram.png" id="232" name="Google Shape;23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0" y="1051560"/>
            <a:ext cx="5303520" cy="2960104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7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17</a:t>
            </a:r>
          </a:p>
        </p:txBody>
      </p:sp>
      <p:pic>
        <p:nvPicPr>
          <p:cNvPr descr="pt_routes_schematic.png" id="234" name="Google Shape;234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093207" y="3897875"/>
            <a:ext cx="4245343" cy="296012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35" name="Google Shape;235;p27"/>
          <p:cNvGraphicFramePr/>
          <p:nvPr/>
        </p:nvGraphicFramePr>
        <p:xfrm>
          <a:off x="391028" y="484414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1371625"/>
                <a:gridCol w="1371625"/>
                <a:gridCol w="1371625"/>
                <a:gridCol w="1371625"/>
                <a:gridCol w="13716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Маршрут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Тип ТС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Вместимость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Интервал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Макс. скорость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~30 мин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11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~15 мин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213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Автобус (12 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35 + 30 стоячих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~10 мин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256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Маршрутка (7,5 м)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18 + 8 стоячих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~20 мин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 км/ч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8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Запуск и результаты симуляции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2" name="Google Shape;242;p28"/>
          <p:cNvGraphicFramePr/>
          <p:nvPr/>
        </p:nvGraphicFramePr>
        <p:xfrm>
          <a:off x="548640" y="19326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2651750"/>
                <a:gridCol w="2651750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Показатель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Итерация 100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авто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56,0%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ОТ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19,3%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Доля пеших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24,7%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Средняя полезность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i="0" lang="en-US" sz="1100" u="none" cap="none" strike="noStrike">
                          <a:solidFill>
                            <a:srgbClr val="000000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124,1</a:t>
                      </a:r>
                      <a:endParaRPr sz="1100">
                        <a:latin typeface="Quattrocento Sans"/>
                        <a:ea typeface="Quattrocento Sans"/>
                        <a:cs typeface="Quattrocento Sans"/>
                        <a:sym typeface="Quattrocento Sans"/>
                      </a:endParaRPr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243" name="Google Shape;243;p28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19</a:t>
            </a:r>
          </a:p>
        </p:txBody>
      </p:sp>
      <p:sp>
        <p:nvSpPr>
          <p:cNvPr id="244" name="Google Shape;244;p28"/>
          <p:cNvSpPr txBox="1"/>
          <p:nvPr/>
        </p:nvSpPr>
        <p:spPr>
          <a:xfrm>
            <a:off x="548640" y="1338215"/>
            <a:ext cx="10972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После 100 итераций: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45" name="Google Shape;245;p28"/>
          <p:cNvGraphicFramePr/>
          <p:nvPr/>
        </p:nvGraphicFramePr>
        <p:xfrm>
          <a:off x="548653" y="395674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1767825"/>
                <a:gridCol w="1767825"/>
                <a:gridCol w="176782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Показатель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Значение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Источник / ориентир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Загрузка УДС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0,068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traffic_stats_by_road_type_daily.csv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Макс. скорость (ограничение)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60 км/ч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Городской лимит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Средняя фактическая скорость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Font typeface="Arial"/>
                        <a:buNone/>
                      </a:pPr>
                      <a:r>
                        <a:rPr lang="en-US" sz="1100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23,009 км/ч</a:t>
                      </a:r>
                      <a:endParaRPr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traffic_stats (Avg. Speed)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246" name="Google Shape;246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18827" y="4020480"/>
            <a:ext cx="5002627" cy="2812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25400" y="1082165"/>
            <a:ext cx="5507901" cy="309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8"/>
          <p:cNvSpPr txBox="1"/>
          <p:nvPr/>
        </p:nvSpPr>
        <p:spPr>
          <a:xfrm>
            <a:off x="548695" y="5719850"/>
            <a:ext cx="53034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000">
                <a:solidFill>
                  <a:schemeClr val="dk1"/>
                </a:solidFill>
                <a:latin typeface="Comfortaa"/>
                <a:ea typeface="Comfortaa"/>
                <a:cs typeface="Comfortaa"/>
                <a:sym typeface="Comfortaa"/>
              </a:rPr>
              <a:t>Доля поездок на ОТ выросла с ~12,5% (ит. 0) до 19,3% (ит. 100)</a:t>
            </a:r>
            <a:endParaRPr sz="1000">
              <a:solidFill>
                <a:schemeClr val="dk1"/>
              </a:solidFill>
              <a:latin typeface="Comfortaa"/>
              <a:ea typeface="Comfortaa"/>
              <a:cs typeface="Comfortaa"/>
              <a:sym typeface="Comforta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200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9"/>
          <p:cNvSpPr txBox="1"/>
          <p:nvPr/>
        </p:nvSpPr>
        <p:spPr>
          <a:xfrm>
            <a:off x="548640" y="164592"/>
            <a:ext cx="109728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Ограничения и следующие шаги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55" name="Google Shape;255;p29"/>
          <p:cNvGraphicFramePr/>
          <p:nvPr/>
        </p:nvGraphicFramePr>
        <p:xfrm>
          <a:off x="548640" y="1371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{628DC826-5D3D-4FB7-B5F4-2E95C438D35E}</a:tableStyleId>
              </a:tblPr>
              <a:tblGrid>
                <a:gridCol w="3688075"/>
                <a:gridCol w="3688075"/>
                <a:gridCol w="36880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Ограничение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Влияние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US" sz="11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Приоритет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1B3A5C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Упрощённая геометрия линков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Неточные длины перегонов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Высокий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ОТ — макет без GTFS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Расписание по допущениям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Средний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калибровки по наблюдениям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Доли режимов не верифицированы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Средний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facilities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Упрощённый спрос: дом→работа→дом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Низкий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2F2F2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Население без демографии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Нет возраста, наличия авто, дохода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 u="none" cap="none" strike="noStrike"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Высокий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6" name="Google Shape;256;p29"/>
          <p:cNvSpPr txBox="1"/>
          <p:nvPr/>
        </p:nvSpPr>
        <p:spPr>
          <a:xfrm>
            <a:off x="487000" y="2931651"/>
            <a:ext cx="53034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Для перехода к production-уровню необходимы: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GTFS данные по общественному транспорту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Данные транспортных обследований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Цикл калибровки на реальных замерах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/>
          <p:nvPr/>
        </p:nvSpPr>
        <p:spPr>
          <a:xfrm>
            <a:off x="11338560" y="6446520"/>
            <a:ext cx="640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0"/>
          <p:cNvSpPr/>
          <p:nvPr/>
        </p:nvSpPr>
        <p:spPr>
          <a:xfrm>
            <a:off x="0" y="0"/>
            <a:ext cx="12191700" cy="1051500"/>
          </a:xfrm>
          <a:prstGeom prst="rect">
            <a:avLst/>
          </a:prstGeom>
          <a:solidFill>
            <a:srgbClr val="1B3A5C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0"/>
          <p:cNvSpPr txBox="1"/>
          <p:nvPr/>
        </p:nvSpPr>
        <p:spPr>
          <a:xfrm>
            <a:off x="548640" y="164592"/>
            <a:ext cx="10972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Источники данных и литература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30"/>
          <p:cNvSpPr txBox="1"/>
          <p:nvPr/>
        </p:nvSpPr>
        <p:spPr>
          <a:xfrm>
            <a:off x="502920" y="1234440"/>
            <a:ext cx="11155800" cy="370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Данные и геоматериалы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OpenStreetMap (OSM) — геометрия УДС,, полигоны застройки: https://www.openstreetmap.org/  (ODbL: https://opendatacommons.org/licenses/odbl/1-0/)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Humanitarian Data Exchange (HDX) — растр плотности 100 м: https://data.humdata.org/  (файл kaz_pop_2025_CN_100m_R2025A_v1.tif)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GeoPackage new_map.gpkg — собранный gpkg на основе файла OSM. Остановки ОТ, POI; подготовка в QGIS: https://qgis.org/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citybus.kz — справочно по маршрутам: https://citybus.kz/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Яндекс.Карты, 2ГИС  — маршруты, интервалы, панорамы: https://yandex.ru/maps/ с соблюдением лицензии, без парсинга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Нормативы и справочники (ориентиры в отчёте)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СН РК 3.03-01-2013 «Автомобильные дороги» — диапазоны пропускной способности в сравнительной таблице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HCM (Highway Capacity Manual), МГСН — ориентиры проверки атрибутов сети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t/>
            </a:r>
            <a:endParaRPr b="0" i="0" sz="1000" u="none" cap="none" strike="noStrike">
              <a:solidFill>
                <a:srgbClr val="555555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Методология и ПО симуляции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Horni A., Nagel K., Axhausen K.W. (eds.) The Multi-Agent Transport Simulation MATSim. Ubiquity Press.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 https://www.ubiquitypress.com/reader/books/pdf/10.5334/baw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MATSim Book Part One (PDF): https://matsim.org/files/book/partOne-latest.pdf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555555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Экосистема MATSim: https://github.com/matsim-org/matsim-code-examples  ·  GTFS2MATSim: https://github.com/matsim-org/GTFS2MATSim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30"/>
          <p:cNvSpPr txBox="1"/>
          <p:nvPr/>
        </p:nvSpPr>
        <p:spPr>
          <a:xfrm>
            <a:off x="11338560" y="6446520"/>
            <a:ext cx="6402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3A5C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/>
        </p:nvSpPr>
        <p:spPr>
          <a:xfrm>
            <a:off x="914400" y="548640"/>
            <a:ext cx="100584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Выводы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31"/>
          <p:cNvSpPr/>
          <p:nvPr/>
        </p:nvSpPr>
        <p:spPr>
          <a:xfrm>
            <a:off x="1097280" y="155448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1828800" y="152704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Полный цикл пройден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31"/>
          <p:cNvSpPr txBox="1"/>
          <p:nvPr/>
        </p:nvSpPr>
        <p:spPr>
          <a:xfrm>
            <a:off x="1828800" y="193852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 подготовки геоданных до запуска многоитерационной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симуляции с ОТ, выбором режимов и визуализацией.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1097280" y="278892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31"/>
          <p:cNvSpPr txBox="1"/>
          <p:nvPr/>
        </p:nvSpPr>
        <p:spPr>
          <a:xfrm>
            <a:off x="1828800" y="276148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Сценарий работоспособен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31"/>
          <p:cNvSpPr txBox="1"/>
          <p:nvPr/>
        </p:nvSpPr>
        <p:spPr>
          <a:xfrm>
            <a:off x="1828800" y="317296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10+ итераций без ошибок, наблюдается сходимость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полезности и перераспределение режимов.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1097280" y="402336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31"/>
          <p:cNvSpPr txBox="1"/>
          <p:nvPr/>
        </p:nvSpPr>
        <p:spPr>
          <a:xfrm>
            <a:off x="1828800" y="399592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Атрибуты в рамках нормативов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31"/>
          <p:cNvSpPr txBox="1"/>
          <p:nvPr/>
        </p:nvSpPr>
        <p:spPr>
          <a:xfrm>
            <a:off x="1828800" y="440740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Сеть и ОТ проверены по HCM, МГСН,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открытым данным Яндекс/2ГИС.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1097280" y="5257800"/>
            <a:ext cx="502920" cy="502920"/>
          </a:xfrm>
          <a:prstGeom prst="ellipse">
            <a:avLst/>
          </a:prstGeom>
          <a:solidFill>
            <a:srgbClr val="E88D2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31"/>
          <p:cNvSpPr txBox="1"/>
          <p:nvPr/>
        </p:nvSpPr>
        <p:spPr>
          <a:xfrm>
            <a:off x="1828800" y="5230368"/>
            <a:ext cx="8686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-US" sz="2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Минимальные данные → работающая модель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31"/>
          <p:cNvSpPr txBox="1"/>
          <p:nvPr/>
        </p:nvSpPr>
        <p:spPr>
          <a:xfrm>
            <a:off x="1828800" y="5641848"/>
            <a:ext cx="8686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OSM + растр плотности + маршруты — достаточно для</a:t>
            </a:r>
            <a:b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1400" u="none" cap="none" strike="noStrike">
                <a:solidFill>
                  <a:srgbClr val="BBCCDD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proof-of-concept. Для production: GTFS + калибровка.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31"/>
          <p:cNvSpPr txBox="1"/>
          <p:nvPr/>
        </p:nvSpPr>
        <p:spPr>
          <a:xfrm>
            <a:off x="11338560" y="6446520"/>
            <a:ext cx="640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